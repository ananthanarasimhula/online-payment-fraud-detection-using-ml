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3" r:id="rId1"/>
  </p:sldMasterIdLst>
  <p:sldIdLst>
    <p:sldId id="256" r:id="rId2"/>
    <p:sldId id="275" r:id="rId3"/>
    <p:sldId id="257" r:id="rId4"/>
    <p:sldId id="261" r:id="rId5"/>
    <p:sldId id="276" r:id="rId6"/>
    <p:sldId id="278" r:id="rId7"/>
    <p:sldId id="260" r:id="rId8"/>
    <p:sldId id="280" r:id="rId9"/>
    <p:sldId id="281" r:id="rId10"/>
    <p:sldId id="285" r:id="rId11"/>
    <p:sldId id="286" r:id="rId12"/>
    <p:sldId id="287" r:id="rId13"/>
    <p:sldId id="283" r:id="rId14"/>
    <p:sldId id="284" r:id="rId15"/>
    <p:sldId id="288" r:id="rId16"/>
    <p:sldId id="289" r:id="rId17"/>
    <p:sldId id="290" r:id="rId18"/>
    <p:sldId id="291" r:id="rId19"/>
    <p:sldId id="292" r:id="rId20"/>
    <p:sldId id="271" r:id="rId21"/>
    <p:sldId id="293" r:id="rId22"/>
    <p:sldId id="29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50FDBF-CEDC-4D09-BF76-E4A160C4EAB4}" v="34" dt="2026-04-22T12:26:49.7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p:scale>
          <a:sx n="75" d="100"/>
          <a:sy n="75" d="100"/>
        </p:scale>
        <p:origin x="1128"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ASIMHULU RAHUL" userId="b180790e20440163" providerId="LiveId" clId="{1303FF04-DA4B-4719-9921-4B54979D09B3}"/>
    <pc:docChg chg="undo redo custSel addSld modSld sldOrd">
      <pc:chgData name="NARASIMHULU RAHUL" userId="b180790e20440163" providerId="LiveId" clId="{1303FF04-DA4B-4719-9921-4B54979D09B3}" dt="2026-04-22T12:28:08.182" v="797" actId="207"/>
      <pc:docMkLst>
        <pc:docMk/>
      </pc:docMkLst>
      <pc:sldChg chg="modSp mod">
        <pc:chgData name="NARASIMHULU RAHUL" userId="b180790e20440163" providerId="LiveId" clId="{1303FF04-DA4B-4719-9921-4B54979D09B3}" dt="2026-04-22T12:09:58.920" v="696" actId="1036"/>
        <pc:sldMkLst>
          <pc:docMk/>
          <pc:sldMk cId="1103842858" sldId="256"/>
        </pc:sldMkLst>
        <pc:spChg chg="mod">
          <ac:chgData name="NARASIMHULU RAHUL" userId="b180790e20440163" providerId="LiveId" clId="{1303FF04-DA4B-4719-9921-4B54979D09B3}" dt="2026-04-22T11:56:22.843" v="618" actId="1076"/>
          <ac:spMkLst>
            <pc:docMk/>
            <pc:sldMk cId="1103842858" sldId="256"/>
            <ac:spMk id="2" creationId="{8CCE9406-1198-68A7-B03E-08DA546DA93E}"/>
          </ac:spMkLst>
        </pc:spChg>
        <pc:spChg chg="mod">
          <ac:chgData name="NARASIMHULU RAHUL" userId="b180790e20440163" providerId="LiveId" clId="{1303FF04-DA4B-4719-9921-4B54979D09B3}" dt="2026-04-22T12:09:54.530" v="694" actId="14100"/>
          <ac:spMkLst>
            <pc:docMk/>
            <pc:sldMk cId="1103842858" sldId="256"/>
            <ac:spMk id="4" creationId="{186B6475-3FE3-B0CD-3BBB-9A1EDCB54D14}"/>
          </ac:spMkLst>
        </pc:spChg>
        <pc:spChg chg="mod">
          <ac:chgData name="NARASIMHULU RAHUL" userId="b180790e20440163" providerId="LiveId" clId="{1303FF04-DA4B-4719-9921-4B54979D09B3}" dt="2026-04-22T12:09:58.920" v="696" actId="1036"/>
          <ac:spMkLst>
            <pc:docMk/>
            <pc:sldMk cId="1103842858" sldId="256"/>
            <ac:spMk id="6" creationId="{F03C19EC-182A-730E-C3A2-2D065BDB2448}"/>
          </ac:spMkLst>
        </pc:spChg>
        <pc:spChg chg="mod">
          <ac:chgData name="NARASIMHULU RAHUL" userId="b180790e20440163" providerId="LiveId" clId="{1303FF04-DA4B-4719-9921-4B54979D09B3}" dt="2026-04-22T11:56:37.758" v="619" actId="1076"/>
          <ac:spMkLst>
            <pc:docMk/>
            <pc:sldMk cId="1103842858" sldId="256"/>
            <ac:spMk id="7" creationId="{65B85436-4681-19FB-C060-1863FFA5DB99}"/>
          </ac:spMkLst>
        </pc:spChg>
        <pc:spChg chg="mod">
          <ac:chgData name="NARASIMHULU RAHUL" userId="b180790e20440163" providerId="LiveId" clId="{1303FF04-DA4B-4719-9921-4B54979D09B3}" dt="2026-04-22T11:55:09.222" v="612" actId="1076"/>
          <ac:spMkLst>
            <pc:docMk/>
            <pc:sldMk cId="1103842858" sldId="256"/>
            <ac:spMk id="8" creationId="{6C7B1AE7-0EEA-8A0D-A025-77239D914955}"/>
          </ac:spMkLst>
        </pc:spChg>
        <pc:spChg chg="mod">
          <ac:chgData name="NARASIMHULU RAHUL" userId="b180790e20440163" providerId="LiveId" clId="{1303FF04-DA4B-4719-9921-4B54979D09B3}" dt="2026-04-22T12:07:48.859" v="692" actId="20577"/>
          <ac:spMkLst>
            <pc:docMk/>
            <pc:sldMk cId="1103842858" sldId="256"/>
            <ac:spMk id="13" creationId="{C992EC3E-5D0D-EAC1-0B8E-9045059D63BA}"/>
          </ac:spMkLst>
        </pc:spChg>
        <pc:picChg chg="mod">
          <ac:chgData name="NARASIMHULU RAHUL" userId="b180790e20440163" providerId="LiveId" clId="{1303FF04-DA4B-4719-9921-4B54979D09B3}" dt="2026-04-22T11:55:14.595" v="613" actId="1076"/>
          <ac:picMkLst>
            <pc:docMk/>
            <pc:sldMk cId="1103842858" sldId="256"/>
            <ac:picMk id="9" creationId="{54056AD2-C57C-184B-C483-038FB5B26DAB}"/>
          </ac:picMkLst>
        </pc:picChg>
      </pc:sldChg>
      <pc:sldChg chg="modSp mod">
        <pc:chgData name="NARASIMHULU RAHUL" userId="b180790e20440163" providerId="LiveId" clId="{1303FF04-DA4B-4719-9921-4B54979D09B3}" dt="2026-04-22T12:16:54.812" v="703" actId="123"/>
        <pc:sldMkLst>
          <pc:docMk/>
          <pc:sldMk cId="146098953" sldId="257"/>
        </pc:sldMkLst>
        <pc:spChg chg="mod">
          <ac:chgData name="NARASIMHULU RAHUL" userId="b180790e20440163" providerId="LiveId" clId="{1303FF04-DA4B-4719-9921-4B54979D09B3}" dt="2026-04-22T12:16:54.812" v="703" actId="123"/>
          <ac:spMkLst>
            <pc:docMk/>
            <pc:sldMk cId="146098953" sldId="257"/>
            <ac:spMk id="5" creationId="{0674C085-85C6-434A-BCA9-A20185B9B3EC}"/>
          </ac:spMkLst>
        </pc:spChg>
        <pc:picChg chg="mod">
          <ac:chgData name="NARASIMHULU RAHUL" userId="b180790e20440163" providerId="LiveId" clId="{1303FF04-DA4B-4719-9921-4B54979D09B3}" dt="2026-04-22T11:57:47.160" v="621" actId="1036"/>
          <ac:picMkLst>
            <pc:docMk/>
            <pc:sldMk cId="146098953" sldId="257"/>
            <ac:picMk id="3" creationId="{C7B47CFC-9052-360F-F046-166FED2AD004}"/>
          </ac:picMkLst>
        </pc:picChg>
      </pc:sldChg>
      <pc:sldChg chg="modSp mod">
        <pc:chgData name="NARASIMHULU RAHUL" userId="b180790e20440163" providerId="LiveId" clId="{1303FF04-DA4B-4719-9921-4B54979D09B3}" dt="2026-04-22T12:22:49.084" v="759" actId="255"/>
        <pc:sldMkLst>
          <pc:docMk/>
          <pc:sldMk cId="2211817982" sldId="260"/>
        </pc:sldMkLst>
        <pc:spChg chg="mod">
          <ac:chgData name="NARASIMHULU RAHUL" userId="b180790e20440163" providerId="LiveId" clId="{1303FF04-DA4B-4719-9921-4B54979D09B3}" dt="2026-04-22T12:22:49.084" v="759" actId="255"/>
          <ac:spMkLst>
            <pc:docMk/>
            <pc:sldMk cId="2211817982" sldId="260"/>
            <ac:spMk id="4" creationId="{8AB9B3A2-4AEE-ADA8-117C-161BB9070FA8}"/>
          </ac:spMkLst>
        </pc:spChg>
      </pc:sldChg>
      <pc:sldChg chg="modSp mod">
        <pc:chgData name="NARASIMHULU RAHUL" userId="b180790e20440163" providerId="LiveId" clId="{1303FF04-DA4B-4719-9921-4B54979D09B3}" dt="2026-04-22T11:43:25.959" v="325" actId="14100"/>
        <pc:sldMkLst>
          <pc:docMk/>
          <pc:sldMk cId="2871059332" sldId="261"/>
        </pc:sldMkLst>
        <pc:picChg chg="mod">
          <ac:chgData name="NARASIMHULU RAHUL" userId="b180790e20440163" providerId="LiveId" clId="{1303FF04-DA4B-4719-9921-4B54979D09B3}" dt="2026-04-22T11:43:25.959" v="325" actId="14100"/>
          <ac:picMkLst>
            <pc:docMk/>
            <pc:sldMk cId="2871059332" sldId="261"/>
            <ac:picMk id="3" creationId="{1E26457E-EFF8-14D0-4A3E-5926D7731BAC}"/>
          </ac:picMkLst>
        </pc:picChg>
      </pc:sldChg>
      <pc:sldChg chg="modSp mod">
        <pc:chgData name="NARASIMHULU RAHUL" userId="b180790e20440163" providerId="LiveId" clId="{1303FF04-DA4B-4719-9921-4B54979D09B3}" dt="2026-04-22T12:24:39.787" v="763" actId="207"/>
        <pc:sldMkLst>
          <pc:docMk/>
          <pc:sldMk cId="487665893" sldId="275"/>
        </pc:sldMkLst>
        <pc:spChg chg="mod">
          <ac:chgData name="NARASIMHULU RAHUL" userId="b180790e20440163" providerId="LiveId" clId="{1303FF04-DA4B-4719-9921-4B54979D09B3}" dt="2026-04-22T12:24:39.787" v="763" actId="207"/>
          <ac:spMkLst>
            <pc:docMk/>
            <pc:sldMk cId="487665893" sldId="275"/>
            <ac:spMk id="2" creationId="{35B4FE24-8C6C-A6BF-69AA-ED41DC6DE4C0}"/>
          </ac:spMkLst>
        </pc:spChg>
      </pc:sldChg>
      <pc:sldChg chg="modSp mod">
        <pc:chgData name="NARASIMHULU RAHUL" userId="b180790e20440163" providerId="LiveId" clId="{1303FF04-DA4B-4719-9921-4B54979D09B3}" dt="2026-04-22T12:24:49.090" v="764" actId="1036"/>
        <pc:sldMkLst>
          <pc:docMk/>
          <pc:sldMk cId="651057919" sldId="276"/>
        </pc:sldMkLst>
        <pc:spChg chg="mod">
          <ac:chgData name="NARASIMHULU RAHUL" userId="b180790e20440163" providerId="LiveId" clId="{1303FF04-DA4B-4719-9921-4B54979D09B3}" dt="2026-04-22T12:10:41.617" v="699" actId="2711"/>
          <ac:spMkLst>
            <pc:docMk/>
            <pc:sldMk cId="651057919" sldId="276"/>
            <ac:spMk id="2" creationId="{C1CF2737-688F-1AA2-70FA-851EA4DBD1DA}"/>
          </ac:spMkLst>
        </pc:spChg>
        <pc:picChg chg="mod">
          <ac:chgData name="NARASIMHULU RAHUL" userId="b180790e20440163" providerId="LiveId" clId="{1303FF04-DA4B-4719-9921-4B54979D09B3}" dt="2026-04-22T12:24:49.090" v="764" actId="1036"/>
          <ac:picMkLst>
            <pc:docMk/>
            <pc:sldMk cId="651057919" sldId="276"/>
            <ac:picMk id="9" creationId="{8E3B8FE6-E825-8850-73BB-F20F97086F9B}"/>
          </ac:picMkLst>
        </pc:picChg>
      </pc:sldChg>
      <pc:sldChg chg="modSp mod">
        <pc:chgData name="NARASIMHULU RAHUL" userId="b180790e20440163" providerId="LiveId" clId="{1303FF04-DA4B-4719-9921-4B54979D09B3}" dt="2026-04-22T12:24:57.956" v="765" actId="123"/>
        <pc:sldMkLst>
          <pc:docMk/>
          <pc:sldMk cId="1802880547" sldId="278"/>
        </pc:sldMkLst>
        <pc:spChg chg="mod">
          <ac:chgData name="NARASIMHULU RAHUL" userId="b180790e20440163" providerId="LiveId" clId="{1303FF04-DA4B-4719-9921-4B54979D09B3}" dt="2026-04-22T12:24:57.956" v="765" actId="123"/>
          <ac:spMkLst>
            <pc:docMk/>
            <pc:sldMk cId="1802880547" sldId="278"/>
            <ac:spMk id="4" creationId="{B14A49D8-F968-D0E6-25C8-EB884F53A0E6}"/>
          </ac:spMkLst>
        </pc:spChg>
      </pc:sldChg>
      <pc:sldChg chg="modSp mod">
        <pc:chgData name="NARASIMHULU RAHUL" userId="b180790e20440163" providerId="LiveId" clId="{1303FF04-DA4B-4719-9921-4B54979D09B3}" dt="2026-04-22T12:22:39.010" v="758" actId="255"/>
        <pc:sldMkLst>
          <pc:docMk/>
          <pc:sldMk cId="1327788016" sldId="280"/>
        </pc:sldMkLst>
        <pc:spChg chg="mod">
          <ac:chgData name="NARASIMHULU RAHUL" userId="b180790e20440163" providerId="LiveId" clId="{1303FF04-DA4B-4719-9921-4B54979D09B3}" dt="2026-04-22T12:22:39.010" v="758" actId="255"/>
          <ac:spMkLst>
            <pc:docMk/>
            <pc:sldMk cId="1327788016" sldId="280"/>
            <ac:spMk id="4" creationId="{DD4667FB-E25D-3A8F-ACD0-49A023FA67E3}"/>
          </ac:spMkLst>
        </pc:spChg>
      </pc:sldChg>
      <pc:sldChg chg="modSp mod">
        <pc:chgData name="NARASIMHULU RAHUL" userId="b180790e20440163" providerId="LiveId" clId="{1303FF04-DA4B-4719-9921-4B54979D09B3}" dt="2026-04-22T12:25:06.668" v="766" actId="123"/>
        <pc:sldMkLst>
          <pc:docMk/>
          <pc:sldMk cId="988026449" sldId="281"/>
        </pc:sldMkLst>
        <pc:spChg chg="mod">
          <ac:chgData name="NARASIMHULU RAHUL" userId="b180790e20440163" providerId="LiveId" clId="{1303FF04-DA4B-4719-9921-4B54979D09B3}" dt="2026-04-22T12:25:06.668" v="766" actId="123"/>
          <ac:spMkLst>
            <pc:docMk/>
            <pc:sldMk cId="988026449" sldId="281"/>
            <ac:spMk id="4" creationId="{2BF0CE6D-D905-93F9-78D5-7525226CCF2F}"/>
          </ac:spMkLst>
        </pc:spChg>
      </pc:sldChg>
      <pc:sldChg chg="modSp mod">
        <pc:chgData name="NARASIMHULU RAHUL" userId="b180790e20440163" providerId="LiveId" clId="{1303FF04-DA4B-4719-9921-4B54979D09B3}" dt="2026-04-22T12:25:24.381" v="767" actId="123"/>
        <pc:sldMkLst>
          <pc:docMk/>
          <pc:sldMk cId="1287052395" sldId="285"/>
        </pc:sldMkLst>
        <pc:spChg chg="mod">
          <ac:chgData name="NARASIMHULU RAHUL" userId="b180790e20440163" providerId="LiveId" clId="{1303FF04-DA4B-4719-9921-4B54979D09B3}" dt="2026-04-22T12:25:24.381" v="767" actId="123"/>
          <ac:spMkLst>
            <pc:docMk/>
            <pc:sldMk cId="1287052395" sldId="285"/>
            <ac:spMk id="4" creationId="{29B8FD92-E168-0106-1AA8-7D31557B978C}"/>
          </ac:spMkLst>
        </pc:spChg>
      </pc:sldChg>
      <pc:sldChg chg="addSp delSp modSp mod">
        <pc:chgData name="NARASIMHULU RAHUL" userId="b180790e20440163" providerId="LiveId" clId="{1303FF04-DA4B-4719-9921-4B54979D09B3}" dt="2026-04-22T12:25:31.021" v="768" actId="123"/>
        <pc:sldMkLst>
          <pc:docMk/>
          <pc:sldMk cId="1167303008" sldId="286"/>
        </pc:sldMkLst>
        <pc:spChg chg="add del mod">
          <ac:chgData name="NARASIMHULU RAHUL" userId="b180790e20440163" providerId="LiveId" clId="{1303FF04-DA4B-4719-9921-4B54979D09B3}" dt="2026-04-22T11:16:18.666" v="38" actId="47"/>
          <ac:spMkLst>
            <pc:docMk/>
            <pc:sldMk cId="1167303008" sldId="286"/>
            <ac:spMk id="2" creationId="{967BCA16-EA65-11BC-6F8D-F6098878FED1}"/>
          </ac:spMkLst>
        </pc:spChg>
        <pc:spChg chg="mod">
          <ac:chgData name="NARASIMHULU RAHUL" userId="b180790e20440163" providerId="LiveId" clId="{1303FF04-DA4B-4719-9921-4B54979D09B3}" dt="2026-04-22T12:25:31.021" v="768" actId="123"/>
          <ac:spMkLst>
            <pc:docMk/>
            <pc:sldMk cId="1167303008" sldId="286"/>
            <ac:spMk id="4" creationId="{8C3AF592-D181-85F1-53D9-BB17E138C366}"/>
          </ac:spMkLst>
        </pc:spChg>
        <pc:spChg chg="add mod">
          <ac:chgData name="NARASIMHULU RAHUL" userId="b180790e20440163" providerId="LiveId" clId="{1303FF04-DA4B-4719-9921-4B54979D09B3}" dt="2026-04-22T11:15:41.598" v="37" actId="767"/>
          <ac:spMkLst>
            <pc:docMk/>
            <pc:sldMk cId="1167303008" sldId="286"/>
            <ac:spMk id="8" creationId="{DE4DB2BC-4919-3AAF-CCD0-A0248D33C7A2}"/>
          </ac:spMkLst>
        </pc:spChg>
        <pc:spChg chg="add del mod">
          <ac:chgData name="NARASIMHULU RAHUL" userId="b180790e20440163" providerId="LiveId" clId="{1303FF04-DA4B-4719-9921-4B54979D09B3}" dt="2026-04-22T11:58:44.014" v="627"/>
          <ac:spMkLst>
            <pc:docMk/>
            <pc:sldMk cId="1167303008" sldId="286"/>
            <ac:spMk id="9" creationId="{8C10DE53-9A7E-0C5E-97CD-F98E1A089CCC}"/>
          </ac:spMkLst>
        </pc:spChg>
        <pc:spChg chg="add del mod">
          <ac:chgData name="NARASIMHULU RAHUL" userId="b180790e20440163" providerId="LiveId" clId="{1303FF04-DA4B-4719-9921-4B54979D09B3}" dt="2026-04-22T12:00:33.845" v="636"/>
          <ac:spMkLst>
            <pc:docMk/>
            <pc:sldMk cId="1167303008" sldId="286"/>
            <ac:spMk id="12" creationId="{87E9C022-C7A6-252D-8AA8-228A569C30F9}"/>
          </ac:spMkLst>
        </pc:spChg>
        <pc:picChg chg="add del">
          <ac:chgData name="NARASIMHULU RAHUL" userId="b180790e20440163" providerId="LiveId" clId="{1303FF04-DA4B-4719-9921-4B54979D09B3}" dt="2026-04-22T11:16:34.590" v="48" actId="22"/>
          <ac:picMkLst>
            <pc:docMk/>
            <pc:sldMk cId="1167303008" sldId="286"/>
            <ac:picMk id="5" creationId="{6309A81C-E2F5-7EFD-F9C6-8E0032EA82B4}"/>
          </ac:picMkLst>
        </pc:picChg>
        <pc:picChg chg="add del mod">
          <ac:chgData name="NARASIMHULU RAHUL" userId="b180790e20440163" providerId="LiveId" clId="{1303FF04-DA4B-4719-9921-4B54979D09B3}" dt="2026-04-22T11:57:58.527" v="622" actId="21"/>
          <ac:picMkLst>
            <pc:docMk/>
            <pc:sldMk cId="1167303008" sldId="286"/>
            <ac:picMk id="7" creationId="{FBA7968F-8ACB-07F5-3A01-27AC29D8EBE9}"/>
          </ac:picMkLst>
        </pc:picChg>
        <pc:picChg chg="add del">
          <ac:chgData name="NARASIMHULU RAHUL" userId="b180790e20440163" providerId="LiveId" clId="{1303FF04-DA4B-4719-9921-4B54979D09B3}" dt="2026-04-22T11:58:43.985" v="625" actId="21"/>
          <ac:picMkLst>
            <pc:docMk/>
            <pc:sldMk cId="1167303008" sldId="286"/>
            <ac:picMk id="11" creationId="{DF3CAC22-627B-12DC-D559-48D639952B7F}"/>
          </ac:picMkLst>
        </pc:picChg>
        <pc:picChg chg="add del mod">
          <ac:chgData name="NARASIMHULU RAHUL" userId="b180790e20440163" providerId="LiveId" clId="{1303FF04-DA4B-4719-9921-4B54979D09B3}" dt="2026-04-22T12:03:34.340" v="653" actId="21"/>
          <ac:picMkLst>
            <pc:docMk/>
            <pc:sldMk cId="1167303008" sldId="286"/>
            <ac:picMk id="14" creationId="{F7DC6EA0-4E18-035D-3E64-A70DCFDC191B}"/>
          </ac:picMkLst>
        </pc:picChg>
        <pc:picChg chg="add mod">
          <ac:chgData name="NARASIMHULU RAHUL" userId="b180790e20440163" providerId="LiveId" clId="{1303FF04-DA4B-4719-9921-4B54979D09B3}" dt="2026-04-22T12:04:17.135" v="655" actId="1076"/>
          <ac:picMkLst>
            <pc:docMk/>
            <pc:sldMk cId="1167303008" sldId="286"/>
            <ac:picMk id="16" creationId="{115B8A0A-238F-BFD8-5E83-5837690DC32E}"/>
          </ac:picMkLst>
        </pc:picChg>
        <pc:picChg chg="add mod">
          <ac:chgData name="NARASIMHULU RAHUL" userId="b180790e20440163" providerId="LiveId" clId="{1303FF04-DA4B-4719-9921-4B54979D09B3}" dt="2026-04-22T12:06:14.803" v="668" actId="1076"/>
          <ac:picMkLst>
            <pc:docMk/>
            <pc:sldMk cId="1167303008" sldId="286"/>
            <ac:picMk id="18" creationId="{4DDC3972-9843-2AC0-EC5D-5BB9FF478748}"/>
          </ac:picMkLst>
        </pc:picChg>
      </pc:sldChg>
      <pc:sldChg chg="modSp mod">
        <pc:chgData name="NARASIMHULU RAHUL" userId="b180790e20440163" providerId="LiveId" clId="{1303FF04-DA4B-4719-9921-4B54979D09B3}" dt="2026-04-22T12:25:38.398" v="769" actId="123"/>
        <pc:sldMkLst>
          <pc:docMk/>
          <pc:sldMk cId="2329084968" sldId="287"/>
        </pc:sldMkLst>
        <pc:spChg chg="mod">
          <ac:chgData name="NARASIMHULU RAHUL" userId="b180790e20440163" providerId="LiveId" clId="{1303FF04-DA4B-4719-9921-4B54979D09B3}" dt="2026-04-22T12:25:38.398" v="769" actId="123"/>
          <ac:spMkLst>
            <pc:docMk/>
            <pc:sldMk cId="2329084968" sldId="287"/>
            <ac:spMk id="4" creationId="{5D98724C-726B-1839-EF15-5EB7E34906CB}"/>
          </ac:spMkLst>
        </pc:spChg>
      </pc:sldChg>
      <pc:sldChg chg="modSp mod">
        <pc:chgData name="NARASIMHULU RAHUL" userId="b180790e20440163" providerId="LiveId" clId="{1303FF04-DA4B-4719-9921-4B54979D09B3}" dt="2026-04-22T12:15:52.286" v="702" actId="207"/>
        <pc:sldMkLst>
          <pc:docMk/>
          <pc:sldMk cId="419854849" sldId="289"/>
        </pc:sldMkLst>
        <pc:spChg chg="mod">
          <ac:chgData name="NARASIMHULU RAHUL" userId="b180790e20440163" providerId="LiveId" clId="{1303FF04-DA4B-4719-9921-4B54979D09B3}" dt="2026-04-22T12:15:52.286" v="702" actId="207"/>
          <ac:spMkLst>
            <pc:docMk/>
            <pc:sldMk cId="419854849" sldId="289"/>
            <ac:spMk id="4" creationId="{57085E18-3553-0DA1-1CB8-D141147E0B98}"/>
          </ac:spMkLst>
        </pc:spChg>
      </pc:sldChg>
      <pc:sldChg chg="addSp delSp modSp add mod ord">
        <pc:chgData name="NARASIMHULU RAHUL" userId="b180790e20440163" providerId="LiveId" clId="{1303FF04-DA4B-4719-9921-4B54979D09B3}" dt="2026-04-22T12:26:17.978" v="772" actId="255"/>
        <pc:sldMkLst>
          <pc:docMk/>
          <pc:sldMk cId="2699258026" sldId="293"/>
        </pc:sldMkLst>
        <pc:spChg chg="add mod">
          <ac:chgData name="NARASIMHULU RAHUL" userId="b180790e20440163" providerId="LiveId" clId="{1303FF04-DA4B-4719-9921-4B54979D09B3}" dt="2026-04-22T12:26:08.359" v="771" actId="1076"/>
          <ac:spMkLst>
            <pc:docMk/>
            <pc:sldMk cId="2699258026" sldId="293"/>
            <ac:spMk id="2" creationId="{ECB49543-B0D9-2BD5-AE5D-4F9D1254258C}"/>
          </ac:spMkLst>
        </pc:spChg>
        <pc:spChg chg="add mod">
          <ac:chgData name="NARASIMHULU RAHUL" userId="b180790e20440163" providerId="LiveId" clId="{1303FF04-DA4B-4719-9921-4B54979D09B3}" dt="2026-04-22T12:26:17.978" v="772" actId="255"/>
          <ac:spMkLst>
            <pc:docMk/>
            <pc:sldMk cId="2699258026" sldId="293"/>
            <ac:spMk id="3" creationId="{0A2D4625-BEBA-158C-4F13-338D6A448683}"/>
          </ac:spMkLst>
        </pc:spChg>
        <pc:picChg chg="del">
          <ac:chgData name="NARASIMHULU RAHUL" userId="b180790e20440163" providerId="LiveId" clId="{1303FF04-DA4B-4719-9921-4B54979D09B3}" dt="2026-04-22T12:17:54.981" v="707" actId="21"/>
          <ac:picMkLst>
            <pc:docMk/>
            <pc:sldMk cId="2699258026" sldId="293"/>
            <ac:picMk id="7" creationId="{1B1146E3-5CC4-3D88-7C23-5DD425BED40E}"/>
          </ac:picMkLst>
        </pc:picChg>
      </pc:sldChg>
      <pc:sldChg chg="addSp delSp modSp add mod">
        <pc:chgData name="NARASIMHULU RAHUL" userId="b180790e20440163" providerId="LiveId" clId="{1303FF04-DA4B-4719-9921-4B54979D09B3}" dt="2026-04-22T12:28:08.182" v="797" actId="207"/>
        <pc:sldMkLst>
          <pc:docMk/>
          <pc:sldMk cId="3601999736" sldId="294"/>
        </pc:sldMkLst>
        <pc:spChg chg="del">
          <ac:chgData name="NARASIMHULU RAHUL" userId="b180790e20440163" providerId="LiveId" clId="{1303FF04-DA4B-4719-9921-4B54979D09B3}" dt="2026-04-22T12:26:42.400" v="775" actId="21"/>
          <ac:spMkLst>
            <pc:docMk/>
            <pc:sldMk cId="3601999736" sldId="294"/>
            <ac:spMk id="2" creationId="{AC44B20C-EB29-D1CB-5C25-36F2A7C1B604}"/>
          </ac:spMkLst>
        </pc:spChg>
        <pc:spChg chg="del">
          <ac:chgData name="NARASIMHULU RAHUL" userId="b180790e20440163" providerId="LiveId" clId="{1303FF04-DA4B-4719-9921-4B54979D09B3}" dt="2026-04-22T12:26:35.009" v="774" actId="21"/>
          <ac:spMkLst>
            <pc:docMk/>
            <pc:sldMk cId="3601999736" sldId="294"/>
            <ac:spMk id="3" creationId="{5A2E22BD-3D6C-FC8A-D040-AC6DB278924D}"/>
          </ac:spMkLst>
        </pc:spChg>
        <pc:spChg chg="add mod">
          <ac:chgData name="NARASIMHULU RAHUL" userId="b180790e20440163" providerId="LiveId" clId="{1303FF04-DA4B-4719-9921-4B54979D09B3}" dt="2026-04-22T12:28:08.182" v="797" actId="207"/>
          <ac:spMkLst>
            <pc:docMk/>
            <pc:sldMk cId="3601999736" sldId="294"/>
            <ac:spMk id="4" creationId="{93002870-E015-480C-1A87-5CE33620386A}"/>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98344121-C09C-4098-834D-8210D554D952}" type="datetimeFigureOut">
              <a:rPr lang="en-IN" smtClean="0"/>
              <a:t>22-04-2026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237380874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344121-C09C-4098-834D-8210D554D952}"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4163238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44121-C09C-4098-834D-8210D554D952}"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601548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344121-C09C-4098-834D-8210D554D952}"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4255012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344121-C09C-4098-834D-8210D554D952}" type="datetimeFigureOut">
              <a:rPr lang="en-IN" smtClean="0"/>
              <a:t>22-04-2026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2150934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344121-C09C-4098-834D-8210D554D952}" type="datetimeFigureOut">
              <a:rPr lang="en-IN" smtClean="0"/>
              <a:t>22-04-2026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1756688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98344121-C09C-4098-834D-8210D554D952}" type="datetimeFigureOut">
              <a:rPr lang="en-IN" smtClean="0"/>
              <a:t>22-04-2026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1217347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344121-C09C-4098-834D-8210D554D952}"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1202550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344121-C09C-4098-834D-8210D554D952}"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1888319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344121-C09C-4098-834D-8210D554D952}"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1391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44121-C09C-4098-834D-8210D554D952}"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59947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44121-C09C-4098-834D-8210D554D952}"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2112167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44121-C09C-4098-834D-8210D554D952}"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3938406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44121-C09C-4098-834D-8210D554D952}"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2750684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44121-C09C-4098-834D-8210D554D952}"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2975010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344121-C09C-4098-834D-8210D554D952}"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387FBB-1754-49B4-ACCC-15931EA7ACBA}"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37793303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344121-C09C-4098-834D-8210D554D952}"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387FBB-1754-49B4-ACCC-15931EA7ACBA}" type="slidenum">
              <a:rPr lang="en-IN" smtClean="0"/>
              <a:t>‹#›</a:t>
            </a:fld>
            <a:endParaRPr lang="en-IN"/>
          </a:p>
        </p:txBody>
      </p:sp>
    </p:spTree>
    <p:extLst>
      <p:ext uri="{BB962C8B-B14F-4D97-AF65-F5344CB8AC3E}">
        <p14:creationId xmlns:p14="http://schemas.microsoft.com/office/powerpoint/2010/main" val="3763232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8344121-C09C-4098-834D-8210D554D952}" type="datetimeFigureOut">
              <a:rPr lang="en-IN" smtClean="0"/>
              <a:t>22-04-2026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4387FBB-1754-49B4-ACCC-15931EA7ACBA}" type="slidenum">
              <a:rPr lang="en-IN" smtClean="0"/>
              <a:t>‹#›</a:t>
            </a:fld>
            <a:endParaRPr lang="en-IN"/>
          </a:p>
        </p:txBody>
      </p:sp>
    </p:spTree>
    <p:extLst>
      <p:ext uri="{BB962C8B-B14F-4D97-AF65-F5344CB8AC3E}">
        <p14:creationId xmlns:p14="http://schemas.microsoft.com/office/powerpoint/2010/main" val="2170099430"/>
      </p:ext>
    </p:extLst>
  </p:cSld>
  <p:clrMap bg1="dk1" tx1="lt1" bg2="dk2" tx2="lt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 id="2147483946" r:id="rId13"/>
    <p:sldLayoutId id="2147483947" r:id="rId14"/>
    <p:sldLayoutId id="2147483948" r:id="rId15"/>
    <p:sldLayoutId id="2147483949" r:id="rId16"/>
    <p:sldLayoutId id="2147483950"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03C19EC-182A-730E-C3A2-2D065BDB2448}"/>
              </a:ext>
            </a:extLst>
          </p:cNvPr>
          <p:cNvSpPr txBox="1"/>
          <p:nvPr/>
        </p:nvSpPr>
        <p:spPr>
          <a:xfrm>
            <a:off x="2085447" y="3852954"/>
            <a:ext cx="8640148" cy="1077218"/>
          </a:xfrm>
          <a:prstGeom prst="rect">
            <a:avLst/>
          </a:prstGeom>
          <a:noFill/>
        </p:spPr>
        <p:txBody>
          <a:bodyPr wrap="square" rtlCol="0">
            <a:spAutoFit/>
          </a:bodyPr>
          <a:lstStyle/>
          <a:p>
            <a:r>
              <a:rPr lang="en-IN" sz="3200" dirty="0">
                <a:solidFill>
                  <a:srgbClr val="00B0F0"/>
                </a:solidFill>
                <a:latin typeface="Arial Black" panose="020B0A04020102020204" pitchFamily="34" charset="0"/>
              </a:rPr>
              <a:t>Project Title </a:t>
            </a:r>
            <a:r>
              <a:rPr lang="en-IN" sz="3200" dirty="0">
                <a:latin typeface="Arial Black" panose="020B0A04020102020204" pitchFamily="34" charset="0"/>
              </a:rPr>
              <a:t>: Automated Fraud  Detection in Digital Payment</a:t>
            </a:r>
          </a:p>
        </p:txBody>
      </p:sp>
      <p:sp>
        <p:nvSpPr>
          <p:cNvPr id="7" name="TextBox 6">
            <a:extLst>
              <a:ext uri="{FF2B5EF4-FFF2-40B4-BE49-F238E27FC236}">
                <a16:creationId xmlns:a16="http://schemas.microsoft.com/office/drawing/2014/main" id="{65B85436-4681-19FB-C060-1863FFA5DB99}"/>
              </a:ext>
            </a:extLst>
          </p:cNvPr>
          <p:cNvSpPr txBox="1"/>
          <p:nvPr/>
        </p:nvSpPr>
        <p:spPr>
          <a:xfrm>
            <a:off x="71408" y="5560028"/>
            <a:ext cx="6236085" cy="1569660"/>
          </a:xfrm>
          <a:prstGeom prst="rect">
            <a:avLst/>
          </a:prstGeom>
          <a:noFill/>
        </p:spPr>
        <p:txBody>
          <a:bodyPr wrap="square" rtlCol="0">
            <a:spAutoFit/>
          </a:bodyPr>
          <a:lstStyle/>
          <a:p>
            <a:r>
              <a:rPr lang="en-IN" dirty="0" err="1"/>
              <a:t>N.Pardha</a:t>
            </a:r>
            <a:r>
              <a:rPr lang="en-IN" dirty="0"/>
              <a:t> Naga Venkata Sai        228X1A4286</a:t>
            </a:r>
          </a:p>
          <a:p>
            <a:r>
              <a:rPr lang="en-IN" dirty="0"/>
              <a:t>P. Harsha Vardhan                        228X1A42A4</a:t>
            </a:r>
          </a:p>
          <a:p>
            <a:r>
              <a:rPr lang="en-IN" dirty="0"/>
              <a:t>N. Anantha                                    228X1A4289</a:t>
            </a:r>
          </a:p>
          <a:p>
            <a:r>
              <a:rPr lang="en-IN" dirty="0"/>
              <a:t>M. Nani                                          228X1A42C1</a:t>
            </a:r>
          </a:p>
          <a:p>
            <a:endParaRPr lang="en-IN" sz="2400" dirty="0"/>
          </a:p>
        </p:txBody>
      </p:sp>
      <p:sp>
        <p:nvSpPr>
          <p:cNvPr id="8" name="TextBox 7">
            <a:extLst>
              <a:ext uri="{FF2B5EF4-FFF2-40B4-BE49-F238E27FC236}">
                <a16:creationId xmlns:a16="http://schemas.microsoft.com/office/drawing/2014/main" id="{6C7B1AE7-0EEA-8A0D-A025-77239D914955}"/>
              </a:ext>
            </a:extLst>
          </p:cNvPr>
          <p:cNvSpPr txBox="1"/>
          <p:nvPr/>
        </p:nvSpPr>
        <p:spPr>
          <a:xfrm>
            <a:off x="1725975" y="3367395"/>
            <a:ext cx="8951293" cy="461665"/>
          </a:xfrm>
          <a:prstGeom prst="rect">
            <a:avLst/>
          </a:prstGeom>
          <a:noFill/>
        </p:spPr>
        <p:txBody>
          <a:bodyPr wrap="square" rtlCol="0">
            <a:spAutoFit/>
          </a:bodyPr>
          <a:lstStyle/>
          <a:p>
            <a:r>
              <a:rPr lang="en-IN" sz="2400" dirty="0"/>
              <a:t> </a:t>
            </a:r>
            <a:r>
              <a:rPr lang="en-IN" sz="2400" b="1" dirty="0"/>
              <a:t>Department of  CSE(Artificial Intelligence and Machine Learning)</a:t>
            </a:r>
          </a:p>
        </p:txBody>
      </p:sp>
      <p:sp>
        <p:nvSpPr>
          <p:cNvPr id="2" name="TextBox 1">
            <a:extLst>
              <a:ext uri="{FF2B5EF4-FFF2-40B4-BE49-F238E27FC236}">
                <a16:creationId xmlns:a16="http://schemas.microsoft.com/office/drawing/2014/main" id="{8CCE9406-1198-68A7-B03E-08DA546DA93E}"/>
              </a:ext>
            </a:extLst>
          </p:cNvPr>
          <p:cNvSpPr txBox="1"/>
          <p:nvPr/>
        </p:nvSpPr>
        <p:spPr>
          <a:xfrm>
            <a:off x="0" y="5016300"/>
            <a:ext cx="4335656" cy="369332"/>
          </a:xfrm>
          <a:prstGeom prst="rect">
            <a:avLst/>
          </a:prstGeom>
          <a:noFill/>
        </p:spPr>
        <p:txBody>
          <a:bodyPr wrap="square" rtlCol="0">
            <a:spAutoFit/>
          </a:bodyPr>
          <a:lstStyle/>
          <a:p>
            <a:r>
              <a:rPr lang="en-US" dirty="0"/>
              <a:t>Team Members:-</a:t>
            </a:r>
            <a:endParaRPr lang="en-IN" dirty="0"/>
          </a:p>
        </p:txBody>
      </p:sp>
      <p:sp>
        <p:nvSpPr>
          <p:cNvPr id="4" name="TextBox 3">
            <a:extLst>
              <a:ext uri="{FF2B5EF4-FFF2-40B4-BE49-F238E27FC236}">
                <a16:creationId xmlns:a16="http://schemas.microsoft.com/office/drawing/2014/main" id="{186B6475-3FE3-B0CD-3BBB-9A1EDCB54D14}"/>
              </a:ext>
            </a:extLst>
          </p:cNvPr>
          <p:cNvSpPr txBox="1"/>
          <p:nvPr/>
        </p:nvSpPr>
        <p:spPr>
          <a:xfrm>
            <a:off x="6752492" y="5157047"/>
            <a:ext cx="5439507" cy="1569660"/>
          </a:xfrm>
          <a:prstGeom prst="rect">
            <a:avLst/>
          </a:prstGeom>
          <a:noFill/>
        </p:spPr>
        <p:txBody>
          <a:bodyPr wrap="square" rtlCol="0">
            <a:spAutoFit/>
          </a:bodyPr>
          <a:lstStyle/>
          <a:p>
            <a:r>
              <a:rPr lang="en-US" sz="2800" dirty="0"/>
              <a:t>Guided By:</a:t>
            </a:r>
          </a:p>
          <a:p>
            <a:r>
              <a:rPr lang="en-IN" sz="2800" dirty="0" err="1"/>
              <a:t>Mr.M.Chennakesava</a:t>
            </a:r>
            <a:r>
              <a:rPr lang="en-IN" sz="2800" dirty="0"/>
              <a:t> </a:t>
            </a:r>
            <a:r>
              <a:rPr lang="en-IN" sz="2800" dirty="0" err="1"/>
              <a:t>Rao,</a:t>
            </a:r>
            <a:r>
              <a:rPr lang="en-IN" dirty="0" err="1"/>
              <a:t>M.E</a:t>
            </a:r>
            <a:r>
              <a:rPr lang="en-IN" dirty="0"/>
              <a:t> (</a:t>
            </a:r>
            <a:r>
              <a:rPr lang="en-IN" dirty="0" err="1"/>
              <a:t>Ph.D</a:t>
            </a:r>
            <a:r>
              <a:rPr lang="en-IN" dirty="0"/>
              <a:t>)</a:t>
            </a:r>
          </a:p>
          <a:p>
            <a:r>
              <a:rPr lang="en-IN" sz="2000" dirty="0"/>
              <a:t>Assistant Professor,</a:t>
            </a:r>
          </a:p>
          <a:p>
            <a:r>
              <a:rPr lang="en-IN" sz="2000" dirty="0"/>
              <a:t>Dept. of CSE(AIML)</a:t>
            </a:r>
          </a:p>
        </p:txBody>
      </p:sp>
      <p:pic>
        <p:nvPicPr>
          <p:cNvPr id="9" name="Picture 8">
            <a:extLst>
              <a:ext uri="{FF2B5EF4-FFF2-40B4-BE49-F238E27FC236}">
                <a16:creationId xmlns:a16="http://schemas.microsoft.com/office/drawing/2014/main" id="{54056AD2-C57C-184B-C483-038FB5B26DAB}"/>
              </a:ext>
            </a:extLst>
          </p:cNvPr>
          <p:cNvPicPr>
            <a:picLocks noChangeAspect="1"/>
          </p:cNvPicPr>
          <p:nvPr/>
        </p:nvPicPr>
        <p:blipFill>
          <a:blip r:embed="rId2">
            <a:extLst>
              <a:ext uri="{28A0092B-C50C-407E-A947-70E740481C1C}">
                <a14:useLocalDpi xmlns:a14="http://schemas.microsoft.com/office/drawing/2010/main" val="0"/>
              </a:ext>
            </a:extLst>
          </a:blip>
          <a:srcRect b="37955"/>
          <a:stretch>
            <a:fillRect/>
          </a:stretch>
        </p:blipFill>
        <p:spPr>
          <a:xfrm>
            <a:off x="4941974" y="1834007"/>
            <a:ext cx="1810518" cy="1492617"/>
          </a:xfrm>
          <a:prstGeom prst="rect">
            <a:avLst/>
          </a:prstGeom>
        </p:spPr>
      </p:pic>
      <p:sp>
        <p:nvSpPr>
          <p:cNvPr id="13" name="TextBox 12">
            <a:extLst>
              <a:ext uri="{FF2B5EF4-FFF2-40B4-BE49-F238E27FC236}">
                <a16:creationId xmlns:a16="http://schemas.microsoft.com/office/drawing/2014/main" id="{C992EC3E-5D0D-EAC1-0B8E-9045059D63BA}"/>
              </a:ext>
            </a:extLst>
          </p:cNvPr>
          <p:cNvSpPr txBox="1"/>
          <p:nvPr/>
        </p:nvSpPr>
        <p:spPr>
          <a:xfrm>
            <a:off x="211494" y="25819"/>
            <a:ext cx="12191998" cy="1815882"/>
          </a:xfrm>
          <a:prstGeom prst="rect">
            <a:avLst/>
          </a:prstGeom>
          <a:noFill/>
        </p:spPr>
        <p:txBody>
          <a:bodyPr wrap="square" rtlCol="0">
            <a:spAutoFit/>
          </a:bodyPr>
          <a:lstStyle/>
          <a:p>
            <a:r>
              <a:rPr lang="en-IN" sz="3600" b="1" dirty="0"/>
              <a:t>KALLAM HARANADHAREDDY INSTITUTE OF TECHNOLOGY</a:t>
            </a:r>
          </a:p>
          <a:p>
            <a:r>
              <a:rPr lang="en-IN" sz="2800" b="1" dirty="0"/>
              <a:t>                                                     (AUTONOMOUS)</a:t>
            </a:r>
          </a:p>
          <a:p>
            <a:r>
              <a:rPr lang="en-IN" sz="2400" dirty="0"/>
              <a:t>            Approved by (AICTE., New Delhi; Permanently Affiliated Io JTNTU KAKINADA)</a:t>
            </a:r>
          </a:p>
          <a:p>
            <a:r>
              <a:rPr lang="en-IN" sz="2400" dirty="0"/>
              <a:t>         Accredited by NAAC with ‘A’ Grade, NH- 16, Chowdavaram,Guntur-522019 (AP)</a:t>
            </a:r>
          </a:p>
        </p:txBody>
      </p:sp>
    </p:spTree>
    <p:extLst>
      <p:ext uri="{BB962C8B-B14F-4D97-AF65-F5344CB8AC3E}">
        <p14:creationId xmlns:p14="http://schemas.microsoft.com/office/powerpoint/2010/main" val="110384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B4FE24-8C6C-A6BF-69AA-ED41DC6DE4C0}"/>
              </a:ext>
            </a:extLst>
          </p:cNvPr>
          <p:cNvSpPr txBox="1"/>
          <p:nvPr/>
        </p:nvSpPr>
        <p:spPr>
          <a:xfrm>
            <a:off x="913585" y="210806"/>
            <a:ext cx="9853942" cy="7232749"/>
          </a:xfrm>
          <a:prstGeom prst="rect">
            <a:avLst/>
          </a:prstGeom>
          <a:noFill/>
        </p:spPr>
        <p:txBody>
          <a:bodyPr wrap="square" rtlCol="0">
            <a:spAutoFit/>
          </a:bodyPr>
          <a:lstStyle/>
          <a:p>
            <a:r>
              <a:rPr lang="en-IN" sz="3200" dirty="0">
                <a:latin typeface="Arial Black" panose="020B0A04020102020204" pitchFamily="34" charset="0"/>
              </a:rPr>
              <a:t>                         </a:t>
            </a:r>
          </a:p>
          <a:p>
            <a:endParaRPr lang="en-IN" sz="3200" dirty="0">
              <a:solidFill>
                <a:schemeClr val="accent2">
                  <a:lumMod val="40000"/>
                  <a:lumOff val="60000"/>
                </a:schemeClr>
              </a:solidFill>
              <a:latin typeface="Arial Black" panose="020B0A04020102020204" pitchFamily="34" charset="0"/>
            </a:endParaRPr>
          </a:p>
          <a:p>
            <a:r>
              <a:rPr lang="en-IN" sz="3200" dirty="0">
                <a:solidFill>
                  <a:schemeClr val="accent1"/>
                </a:solidFill>
                <a:latin typeface="Arial Black" panose="020B0A04020102020204" pitchFamily="34" charset="0"/>
              </a:rPr>
              <a:t>CONTENTS</a:t>
            </a:r>
          </a:p>
          <a:p>
            <a:r>
              <a:rPr lang="en-IN" sz="3200" dirty="0">
                <a:latin typeface="Arial Black" panose="020B0A04020102020204" pitchFamily="34" charset="0"/>
              </a:rPr>
              <a:t>                         </a:t>
            </a:r>
          </a:p>
          <a:p>
            <a:r>
              <a:rPr lang="en-US" sz="2400" dirty="0"/>
              <a:t>● </a:t>
            </a:r>
            <a:r>
              <a:rPr lang="en-IN" sz="2400" dirty="0"/>
              <a:t>Abstract</a:t>
            </a:r>
          </a:p>
          <a:p>
            <a:r>
              <a:rPr lang="en-US" sz="2400" dirty="0"/>
              <a:t>● Literature Survey</a:t>
            </a:r>
            <a:endParaRPr lang="en-IN" sz="2400" dirty="0"/>
          </a:p>
          <a:p>
            <a:r>
              <a:rPr lang="en-US" sz="2400" dirty="0"/>
              <a:t>● Architecture</a:t>
            </a:r>
            <a:endParaRPr lang="en-IN" sz="2400" dirty="0"/>
          </a:p>
          <a:p>
            <a:r>
              <a:rPr lang="en-US" sz="2400" dirty="0"/>
              <a:t>● </a:t>
            </a:r>
            <a:r>
              <a:rPr lang="en-IN" sz="2400" dirty="0"/>
              <a:t>Methodology</a:t>
            </a:r>
          </a:p>
          <a:p>
            <a:r>
              <a:rPr lang="en-US" sz="2400" dirty="0"/>
              <a:t>● </a:t>
            </a:r>
            <a:r>
              <a:rPr lang="en-IN" sz="2400" dirty="0"/>
              <a:t>Summary of Project</a:t>
            </a:r>
          </a:p>
          <a:p>
            <a:r>
              <a:rPr lang="en-US" sz="2400" dirty="0"/>
              <a:t>● </a:t>
            </a:r>
            <a:r>
              <a:rPr lang="en-IN" sz="2400" dirty="0"/>
              <a:t>Design &amp; Implementation</a:t>
            </a:r>
          </a:p>
          <a:p>
            <a:r>
              <a:rPr lang="en-US" sz="2400" dirty="0"/>
              <a:t>● Output</a:t>
            </a:r>
            <a:endParaRPr lang="en-IN" sz="2400" dirty="0"/>
          </a:p>
          <a:p>
            <a:r>
              <a:rPr lang="en-US" sz="2400" dirty="0"/>
              <a:t>● </a:t>
            </a:r>
            <a:r>
              <a:rPr lang="en-IN" sz="2400" dirty="0"/>
              <a:t>Conclusion</a:t>
            </a:r>
          </a:p>
          <a:p>
            <a:endParaRPr lang="en-IN" sz="2400" dirty="0"/>
          </a:p>
          <a:p>
            <a:endParaRPr lang="en-IN" sz="2400" dirty="0"/>
          </a:p>
          <a:p>
            <a:endParaRPr lang="en-IN" sz="3200" dirty="0">
              <a:latin typeface="Arial Black" panose="020B0A04020102020204" pitchFamily="34" charset="0"/>
            </a:endParaRPr>
          </a:p>
          <a:p>
            <a:endParaRPr lang="en-IN" sz="3200" dirty="0">
              <a:latin typeface="Arial Black" panose="020B0A04020102020204" pitchFamily="34" charset="0"/>
            </a:endParaRPr>
          </a:p>
          <a:p>
            <a:endParaRPr lang="en-IN" sz="3200" dirty="0">
              <a:latin typeface="Arial Black" panose="020B0A04020102020204" pitchFamily="34" charset="0"/>
            </a:endParaRPr>
          </a:p>
        </p:txBody>
      </p:sp>
    </p:spTree>
    <p:extLst>
      <p:ext uri="{BB962C8B-B14F-4D97-AF65-F5344CB8AC3E}">
        <p14:creationId xmlns:p14="http://schemas.microsoft.com/office/powerpoint/2010/main" val="487665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B47CFC-9052-360F-F046-166FED2AD0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0172" y="18662"/>
            <a:ext cx="5921828" cy="6857999"/>
          </a:xfrm>
          <a:prstGeom prst="rect">
            <a:avLst/>
          </a:prstGeom>
        </p:spPr>
      </p:pic>
      <p:sp>
        <p:nvSpPr>
          <p:cNvPr id="5" name="TextBox 4">
            <a:extLst>
              <a:ext uri="{FF2B5EF4-FFF2-40B4-BE49-F238E27FC236}">
                <a16:creationId xmlns:a16="http://schemas.microsoft.com/office/drawing/2014/main" id="{0674C085-85C6-434A-BCA9-A20185B9B3EC}"/>
              </a:ext>
            </a:extLst>
          </p:cNvPr>
          <p:cNvSpPr txBox="1"/>
          <p:nvPr/>
        </p:nvSpPr>
        <p:spPr>
          <a:xfrm>
            <a:off x="1" y="103740"/>
            <a:ext cx="6096000" cy="3662541"/>
          </a:xfrm>
          <a:prstGeom prst="rect">
            <a:avLst/>
          </a:prstGeom>
          <a:noFill/>
        </p:spPr>
        <p:txBody>
          <a:bodyPr wrap="square" rtlCol="0">
            <a:spAutoFit/>
          </a:bodyPr>
          <a:lstStyle/>
          <a:p>
            <a:r>
              <a:rPr lang="en-IN" sz="3200" dirty="0">
                <a:latin typeface="Arial Black" panose="020B0A04020102020204" pitchFamily="34" charset="0"/>
              </a:rPr>
              <a:t>                </a:t>
            </a:r>
            <a:endParaRPr lang="en-IN" sz="3200" dirty="0">
              <a:solidFill>
                <a:schemeClr val="accent6">
                  <a:lumMod val="60000"/>
                  <a:lumOff val="40000"/>
                </a:schemeClr>
              </a:solidFill>
              <a:latin typeface="Arial Black" panose="020B0A04020102020204" pitchFamily="34" charset="0"/>
            </a:endParaRPr>
          </a:p>
          <a:p>
            <a:r>
              <a:rPr lang="en-IN" sz="3200" dirty="0">
                <a:solidFill>
                  <a:schemeClr val="accent6">
                    <a:lumMod val="60000"/>
                    <a:lumOff val="40000"/>
                  </a:schemeClr>
                </a:solidFill>
                <a:latin typeface="Arial Black" panose="020B0A04020102020204" pitchFamily="34" charset="0"/>
              </a:rPr>
              <a:t>             Abstract</a:t>
            </a:r>
            <a:endParaRPr lang="en-US" sz="2400" dirty="0">
              <a:solidFill>
                <a:schemeClr val="accent6">
                  <a:lumMod val="60000"/>
                  <a:lumOff val="40000"/>
                </a:schemeClr>
              </a:solidFill>
            </a:endParaRPr>
          </a:p>
          <a:p>
            <a:pPr algn="just"/>
            <a:endParaRPr lang="en-US" sz="2400" dirty="0"/>
          </a:p>
          <a:p>
            <a:pPr algn="just"/>
            <a:r>
              <a:rPr lang="en-US" sz="2400" dirty="0"/>
              <a:t>    </a:t>
            </a:r>
            <a:r>
              <a:rPr lang="en-US" sz="2400" dirty="0" err="1"/>
              <a:t>SecurePay</a:t>
            </a:r>
            <a:r>
              <a:rPr lang="en-US" sz="2400" dirty="0"/>
              <a:t> is an intelligent system designed to proactively detect and prevent fraud in online transactions using ML.</a:t>
            </a:r>
            <a:r>
              <a:rPr lang="en-IN" sz="2400" dirty="0"/>
              <a:t>By </a:t>
            </a:r>
            <a:r>
              <a:rPr lang="en-IN" sz="2400" dirty="0" err="1"/>
              <a:t>analyzing</a:t>
            </a:r>
            <a:r>
              <a:rPr lang="en-IN" sz="2400" dirty="0"/>
              <a:t> transaction patterns from a large-scale dataset, the project evaluates multiple classification algorithms.</a:t>
            </a:r>
            <a:endParaRPr lang="en-IN" sz="2400" dirty="0">
              <a:latin typeface="Arial Black" panose="020B0A04020102020204" pitchFamily="34" charset="0"/>
            </a:endParaRPr>
          </a:p>
        </p:txBody>
      </p:sp>
    </p:spTree>
    <p:extLst>
      <p:ext uri="{BB962C8B-B14F-4D97-AF65-F5344CB8AC3E}">
        <p14:creationId xmlns:p14="http://schemas.microsoft.com/office/powerpoint/2010/main" val="146098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26457E-EFF8-14D0-4A3E-5926D7731BA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998376"/>
            <a:ext cx="12192000" cy="5859624"/>
          </a:xfrm>
          <a:prstGeom prst="rect">
            <a:avLst/>
          </a:prstGeom>
        </p:spPr>
      </p:pic>
      <p:sp>
        <p:nvSpPr>
          <p:cNvPr id="4" name="TextBox 3">
            <a:extLst>
              <a:ext uri="{FF2B5EF4-FFF2-40B4-BE49-F238E27FC236}">
                <a16:creationId xmlns:a16="http://schemas.microsoft.com/office/drawing/2014/main" id="{3B8C2FE3-F300-A8B1-1397-809C1D8382FC}"/>
              </a:ext>
            </a:extLst>
          </p:cNvPr>
          <p:cNvSpPr txBox="1"/>
          <p:nvPr/>
        </p:nvSpPr>
        <p:spPr>
          <a:xfrm>
            <a:off x="3004457" y="0"/>
            <a:ext cx="5486400" cy="3231654"/>
          </a:xfrm>
          <a:prstGeom prst="rect">
            <a:avLst/>
          </a:prstGeom>
          <a:noFill/>
        </p:spPr>
        <p:txBody>
          <a:bodyPr wrap="square" rtlCol="0">
            <a:spAutoFit/>
          </a:bodyPr>
          <a:lstStyle/>
          <a:p>
            <a:r>
              <a:rPr lang="en-IN" sz="3200" dirty="0">
                <a:latin typeface="Arial Black" panose="020B0A04020102020204" pitchFamily="34" charset="0"/>
              </a:rPr>
              <a:t>     </a:t>
            </a:r>
            <a:r>
              <a:rPr lang="en-IN" sz="3200" dirty="0">
                <a:solidFill>
                  <a:schemeClr val="accent6">
                    <a:lumMod val="60000"/>
                    <a:lumOff val="40000"/>
                  </a:schemeClr>
                </a:solidFill>
                <a:latin typeface="Arial Black" panose="020B0A04020102020204" pitchFamily="34" charset="0"/>
              </a:rPr>
              <a:t>Literature of Survey</a:t>
            </a:r>
          </a:p>
          <a:p>
            <a:endParaRPr lang="en-IN" sz="3200" dirty="0"/>
          </a:p>
          <a:p>
            <a:endParaRPr lang="en-US" sz="2800" dirty="0"/>
          </a:p>
          <a:p>
            <a:endParaRPr lang="en-IN" sz="2800" dirty="0"/>
          </a:p>
          <a:p>
            <a:endParaRPr lang="en-IN" sz="2800" dirty="0"/>
          </a:p>
          <a:p>
            <a:endParaRPr lang="en-IN" sz="2800" dirty="0"/>
          </a:p>
          <a:p>
            <a:endParaRPr lang="en-IN" sz="2800" dirty="0"/>
          </a:p>
        </p:txBody>
      </p:sp>
    </p:spTree>
    <p:extLst>
      <p:ext uri="{BB962C8B-B14F-4D97-AF65-F5344CB8AC3E}">
        <p14:creationId xmlns:p14="http://schemas.microsoft.com/office/powerpoint/2010/main" val="2871059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F2737-688F-1AA2-70FA-851EA4DBD1DA}"/>
              </a:ext>
            </a:extLst>
          </p:cNvPr>
          <p:cNvSpPr>
            <a:spLocks noGrp="1"/>
          </p:cNvSpPr>
          <p:nvPr>
            <p:ph type="title"/>
          </p:nvPr>
        </p:nvSpPr>
        <p:spPr>
          <a:xfrm>
            <a:off x="4284711" y="138782"/>
            <a:ext cx="3991542" cy="1400769"/>
          </a:xfrm>
        </p:spPr>
        <p:txBody>
          <a:bodyPr>
            <a:normAutofit fontScale="90000"/>
          </a:bodyPr>
          <a:lstStyle/>
          <a:p>
            <a:r>
              <a:rPr lang="en-IN" sz="4800" b="1" cap="none" dirty="0">
                <a:ln w="12700">
                  <a:solidFill>
                    <a:schemeClr val="tx2">
                      <a:lumMod val="75000"/>
                    </a:schemeClr>
                  </a:solidFill>
                  <a:prstDash val="solid"/>
                </a:ln>
                <a:solidFill>
                  <a:schemeClr val="accent6">
                    <a:lumMod val="60000"/>
                    <a:lumOff val="40000"/>
                  </a:schemeClr>
                </a:solidFill>
                <a:effectLst>
                  <a:outerShdw dist="38100" dir="2640000" algn="bl" rotWithShape="0">
                    <a:schemeClr val="tx2">
                      <a:lumMod val="75000"/>
                    </a:schemeClr>
                  </a:outerShdw>
                </a:effectLst>
                <a:latin typeface="Arial Black" panose="020B0A04020102020204" pitchFamily="34" charset="0"/>
                <a:cs typeface="Arial" panose="020B0604020202020204" pitchFamily="34" charset="0"/>
              </a:rPr>
              <a:t>Architecture</a:t>
            </a:r>
          </a:p>
        </p:txBody>
      </p:sp>
      <p:pic>
        <p:nvPicPr>
          <p:cNvPr id="9" name="Content Placeholder 8">
            <a:extLst>
              <a:ext uri="{FF2B5EF4-FFF2-40B4-BE49-F238E27FC236}">
                <a16:creationId xmlns:a16="http://schemas.microsoft.com/office/drawing/2014/main" id="{8E3B8FE6-E825-8850-73BB-F20F97086F9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959429" y="1932266"/>
            <a:ext cx="8313575" cy="4702629"/>
          </a:xfrm>
          <a:prstGeom prst="rect">
            <a:avLst/>
          </a:prstGeom>
        </p:spPr>
      </p:pic>
    </p:spTree>
    <p:extLst>
      <p:ext uri="{BB962C8B-B14F-4D97-AF65-F5344CB8AC3E}">
        <p14:creationId xmlns:p14="http://schemas.microsoft.com/office/powerpoint/2010/main" val="651057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F26E4-D7D5-061B-69D6-128756BBA5E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6807D6A-529C-8C89-4B58-70676796847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332" y="2775836"/>
            <a:ext cx="12173338" cy="4082164"/>
          </a:xfrm>
          <a:prstGeom prst="rect">
            <a:avLst/>
          </a:prstGeom>
        </p:spPr>
      </p:pic>
      <p:sp>
        <p:nvSpPr>
          <p:cNvPr id="4" name="TextBox 3">
            <a:extLst>
              <a:ext uri="{FF2B5EF4-FFF2-40B4-BE49-F238E27FC236}">
                <a16:creationId xmlns:a16="http://schemas.microsoft.com/office/drawing/2014/main" id="{B14A49D8-F968-D0E6-25C8-EB884F53A0E6}"/>
              </a:ext>
            </a:extLst>
          </p:cNvPr>
          <p:cNvSpPr txBox="1"/>
          <p:nvPr/>
        </p:nvSpPr>
        <p:spPr>
          <a:xfrm>
            <a:off x="9331" y="65336"/>
            <a:ext cx="12120465" cy="2923877"/>
          </a:xfrm>
          <a:prstGeom prst="rect">
            <a:avLst/>
          </a:prstGeom>
          <a:noFill/>
        </p:spPr>
        <p:txBody>
          <a:bodyPr wrap="square" rtlCol="0">
            <a:spAutoFit/>
          </a:bodyPr>
          <a:lstStyle/>
          <a:p>
            <a:r>
              <a:rPr lang="en-IN" sz="3200" dirty="0">
                <a:latin typeface="Arial Black" panose="020B0A04020102020204" pitchFamily="34" charset="0"/>
              </a:rPr>
              <a:t>                                 </a:t>
            </a:r>
            <a:r>
              <a:rPr lang="en-IN" sz="3200" dirty="0">
                <a:solidFill>
                  <a:schemeClr val="accent6">
                    <a:lumMod val="60000"/>
                    <a:lumOff val="40000"/>
                  </a:schemeClr>
                </a:solidFill>
                <a:latin typeface="Arial Black" panose="020B0A04020102020204" pitchFamily="34" charset="0"/>
              </a:rPr>
              <a:t>Methodology</a:t>
            </a:r>
          </a:p>
          <a:p>
            <a:endParaRPr lang="en-IN" sz="3200" dirty="0"/>
          </a:p>
          <a:p>
            <a:pPr algn="just"/>
            <a:r>
              <a:rPr lang="en-IN" sz="2400" dirty="0"/>
              <a:t>● </a:t>
            </a:r>
            <a:r>
              <a:rPr lang="en-IN" sz="3200" b="1" dirty="0">
                <a:solidFill>
                  <a:schemeClr val="accent2">
                    <a:lumMod val="75000"/>
                  </a:schemeClr>
                </a:solidFill>
              </a:rPr>
              <a:t>Data Collection</a:t>
            </a:r>
            <a:r>
              <a:rPr lang="en-IN" sz="2400" b="1" dirty="0"/>
              <a:t>:-</a:t>
            </a:r>
          </a:p>
          <a:p>
            <a:pPr algn="just"/>
            <a:r>
              <a:rPr lang="en-IN" sz="2400" dirty="0"/>
              <a:t>      </a:t>
            </a:r>
            <a:r>
              <a:rPr lang="en-IN" sz="2000" dirty="0"/>
              <a:t>Collected historical online payment transaction data</a:t>
            </a:r>
          </a:p>
          <a:p>
            <a:pPr algn="just"/>
            <a:endParaRPr lang="en-IN" sz="2000" dirty="0"/>
          </a:p>
          <a:p>
            <a:pPr algn="just"/>
            <a:r>
              <a:rPr lang="en-IN" sz="2000" dirty="0"/>
              <a:t>        </a:t>
            </a:r>
            <a:r>
              <a:rPr lang="en-IN" sz="2000" dirty="0">
                <a:solidFill>
                  <a:schemeClr val="accent4"/>
                </a:solidFill>
              </a:rPr>
              <a:t>Link</a:t>
            </a:r>
            <a:r>
              <a:rPr lang="en-IN" sz="2000" dirty="0"/>
              <a:t>:-https://www.kaggle.com/datasets/rupakroy/online-payments-fraud-detection-dataset</a:t>
            </a:r>
            <a:endParaRPr lang="en-US" sz="2000" b="1" dirty="0"/>
          </a:p>
          <a:p>
            <a:endParaRPr lang="en-IN" sz="2400" dirty="0"/>
          </a:p>
        </p:txBody>
      </p:sp>
    </p:spTree>
    <p:extLst>
      <p:ext uri="{BB962C8B-B14F-4D97-AF65-F5344CB8AC3E}">
        <p14:creationId xmlns:p14="http://schemas.microsoft.com/office/powerpoint/2010/main" val="1802880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565955-F8BC-1545-9407-6532629C174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429000"/>
            <a:ext cx="12182669" cy="3429000"/>
          </a:xfrm>
          <a:prstGeom prst="rect">
            <a:avLst/>
          </a:prstGeom>
        </p:spPr>
      </p:pic>
      <p:sp>
        <p:nvSpPr>
          <p:cNvPr id="4" name="TextBox 3">
            <a:extLst>
              <a:ext uri="{FF2B5EF4-FFF2-40B4-BE49-F238E27FC236}">
                <a16:creationId xmlns:a16="http://schemas.microsoft.com/office/drawing/2014/main" id="{8AB9B3A2-4AEE-ADA8-117C-161BB9070FA8}"/>
              </a:ext>
            </a:extLst>
          </p:cNvPr>
          <p:cNvSpPr txBox="1"/>
          <p:nvPr/>
        </p:nvSpPr>
        <p:spPr>
          <a:xfrm>
            <a:off x="9331" y="65336"/>
            <a:ext cx="12120465" cy="1631216"/>
          </a:xfrm>
          <a:prstGeom prst="rect">
            <a:avLst/>
          </a:prstGeom>
          <a:noFill/>
        </p:spPr>
        <p:txBody>
          <a:bodyPr wrap="square" rtlCol="0">
            <a:spAutoFit/>
          </a:bodyPr>
          <a:lstStyle/>
          <a:p>
            <a:r>
              <a:rPr lang="en-IN" sz="3200" dirty="0">
                <a:latin typeface="Arial Black" panose="020B0A04020102020204" pitchFamily="34" charset="0"/>
              </a:rPr>
              <a:t> </a:t>
            </a:r>
            <a:r>
              <a:rPr lang="en-IN" sz="2400" dirty="0"/>
              <a:t>● </a:t>
            </a:r>
            <a:r>
              <a:rPr lang="en-IN" sz="3200" dirty="0">
                <a:solidFill>
                  <a:srgbClr val="0070C0"/>
                </a:solidFill>
              </a:rPr>
              <a:t>Data Preprocessing(dropped superfluous)</a:t>
            </a:r>
            <a:r>
              <a:rPr lang="en-IN" sz="3200" b="1" dirty="0">
                <a:solidFill>
                  <a:srgbClr val="0070C0"/>
                </a:solidFill>
              </a:rPr>
              <a:t>:-</a:t>
            </a:r>
          </a:p>
          <a:p>
            <a:pPr algn="just"/>
            <a:r>
              <a:rPr lang="en-IN" sz="2400" dirty="0"/>
              <a:t>      </a:t>
            </a:r>
            <a:r>
              <a:rPr lang="en-US" sz="2000" dirty="0"/>
              <a:t>Removed missing and inconsistent values</a:t>
            </a:r>
            <a:endParaRPr lang="en-IN" sz="2000" dirty="0"/>
          </a:p>
          <a:p>
            <a:pPr algn="just"/>
            <a:endParaRPr lang="en-US" sz="2000" b="1" dirty="0"/>
          </a:p>
          <a:p>
            <a:endParaRPr lang="en-IN" sz="2400" dirty="0"/>
          </a:p>
        </p:txBody>
      </p:sp>
    </p:spTree>
    <p:extLst>
      <p:ext uri="{BB962C8B-B14F-4D97-AF65-F5344CB8AC3E}">
        <p14:creationId xmlns:p14="http://schemas.microsoft.com/office/powerpoint/2010/main" val="2211817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99489-4D09-518E-2178-8D84C76C65E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D3EBD7-2586-997B-E728-52C58B717AF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331" y="2593910"/>
            <a:ext cx="12182669" cy="4264090"/>
          </a:xfrm>
          <a:prstGeom prst="rect">
            <a:avLst/>
          </a:prstGeom>
        </p:spPr>
      </p:pic>
      <p:sp>
        <p:nvSpPr>
          <p:cNvPr id="4" name="TextBox 3">
            <a:extLst>
              <a:ext uri="{FF2B5EF4-FFF2-40B4-BE49-F238E27FC236}">
                <a16:creationId xmlns:a16="http://schemas.microsoft.com/office/drawing/2014/main" id="{DD4667FB-E25D-3A8F-ACD0-49A023FA67E3}"/>
              </a:ext>
            </a:extLst>
          </p:cNvPr>
          <p:cNvSpPr txBox="1"/>
          <p:nvPr/>
        </p:nvSpPr>
        <p:spPr>
          <a:xfrm>
            <a:off x="9331" y="65336"/>
            <a:ext cx="12120465" cy="1631216"/>
          </a:xfrm>
          <a:prstGeom prst="rect">
            <a:avLst/>
          </a:prstGeom>
          <a:noFill/>
        </p:spPr>
        <p:txBody>
          <a:bodyPr wrap="square" rtlCol="0">
            <a:spAutoFit/>
          </a:bodyPr>
          <a:lstStyle/>
          <a:p>
            <a:r>
              <a:rPr lang="en-IN" sz="3200" dirty="0">
                <a:latin typeface="Arial Black" panose="020B0A04020102020204" pitchFamily="34" charset="0"/>
              </a:rPr>
              <a:t> </a:t>
            </a:r>
            <a:r>
              <a:rPr lang="en-IN" sz="2400" dirty="0"/>
              <a:t>● </a:t>
            </a:r>
            <a:r>
              <a:rPr lang="en-IN" sz="3200" dirty="0">
                <a:solidFill>
                  <a:srgbClr val="0070C0"/>
                </a:solidFill>
              </a:rPr>
              <a:t>Checking for Null Values</a:t>
            </a:r>
            <a:r>
              <a:rPr lang="en-IN" sz="2400" b="1" dirty="0"/>
              <a:t>:-</a:t>
            </a:r>
          </a:p>
          <a:p>
            <a:pPr algn="just"/>
            <a:r>
              <a:rPr lang="en-IN" sz="2400" dirty="0"/>
              <a:t>      </a:t>
            </a:r>
            <a:r>
              <a:rPr lang="en-US" sz="2000" dirty="0"/>
              <a:t>Checking for null values is an important step in the data preprocessing phase</a:t>
            </a:r>
            <a:endParaRPr lang="en-IN" sz="2000" dirty="0"/>
          </a:p>
          <a:p>
            <a:pPr algn="just"/>
            <a:endParaRPr lang="en-US" sz="2000" b="1" dirty="0"/>
          </a:p>
          <a:p>
            <a:endParaRPr lang="en-IN" sz="2400" dirty="0"/>
          </a:p>
        </p:txBody>
      </p:sp>
    </p:spTree>
    <p:extLst>
      <p:ext uri="{BB962C8B-B14F-4D97-AF65-F5344CB8AC3E}">
        <p14:creationId xmlns:p14="http://schemas.microsoft.com/office/powerpoint/2010/main" val="1327788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3AB35-E66C-4030-61E5-4F061D6CDE6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BF0CE6D-D905-93F9-78D5-7525226CCF2F}"/>
              </a:ext>
            </a:extLst>
          </p:cNvPr>
          <p:cNvSpPr txBox="1"/>
          <p:nvPr/>
        </p:nvSpPr>
        <p:spPr>
          <a:xfrm>
            <a:off x="93306" y="65336"/>
            <a:ext cx="11980506" cy="6555641"/>
          </a:xfrm>
          <a:prstGeom prst="rect">
            <a:avLst/>
          </a:prstGeom>
          <a:noFill/>
        </p:spPr>
        <p:txBody>
          <a:bodyPr wrap="square" rtlCol="0">
            <a:spAutoFit/>
          </a:bodyPr>
          <a:lstStyle/>
          <a:p>
            <a:pPr algn="just"/>
            <a:r>
              <a:rPr lang="en-IN" sz="2400" dirty="0"/>
              <a:t>● </a:t>
            </a:r>
            <a:r>
              <a:rPr lang="en-IN" sz="3200" dirty="0">
                <a:solidFill>
                  <a:srgbClr val="0070C0"/>
                </a:solidFill>
              </a:rPr>
              <a:t>Feature Engineering</a:t>
            </a:r>
            <a:r>
              <a:rPr lang="en-IN" sz="2400" b="1" dirty="0"/>
              <a:t>:-</a:t>
            </a:r>
          </a:p>
          <a:p>
            <a:pPr algn="just"/>
            <a:endParaRPr lang="en-IN" sz="2400" b="1" dirty="0"/>
          </a:p>
          <a:p>
            <a:pPr algn="just"/>
            <a:r>
              <a:rPr lang="en-IN" sz="2000" dirty="0"/>
              <a:t>    </a:t>
            </a:r>
            <a:r>
              <a:rPr lang="en-IN" sz="1600" dirty="0"/>
              <a:t>● </a:t>
            </a:r>
            <a:r>
              <a:rPr lang="en-IN" sz="2000" dirty="0">
                <a:solidFill>
                  <a:schemeClr val="accent4">
                    <a:lumMod val="75000"/>
                  </a:schemeClr>
                </a:solidFill>
              </a:rPr>
              <a:t>Math Check</a:t>
            </a:r>
            <a:r>
              <a:rPr lang="en-IN" sz="2000" dirty="0"/>
              <a:t>:-</a:t>
            </a:r>
            <a:r>
              <a:rPr lang="en-US" sz="2000" dirty="0"/>
              <a:t> Math check is performed to validate the numerical consistency and correctness of the dataset It ensures that all mathematical relationships and calculations within the data are accurate Performing math checks helps in preventing incorrect model training and improves overall data reliability.</a:t>
            </a:r>
          </a:p>
          <a:p>
            <a:pPr algn="just"/>
            <a:endParaRPr lang="en-IN" sz="2000" dirty="0"/>
          </a:p>
          <a:p>
            <a:pPr algn="just"/>
            <a:r>
              <a:rPr lang="en-IN" sz="1600" dirty="0"/>
              <a:t>     ● </a:t>
            </a:r>
            <a:r>
              <a:rPr lang="en-IN" sz="2000" dirty="0">
                <a:solidFill>
                  <a:schemeClr val="accent4">
                    <a:lumMod val="75000"/>
                  </a:schemeClr>
                </a:solidFill>
              </a:rPr>
              <a:t>Data cleaning:</a:t>
            </a:r>
            <a:r>
              <a:rPr lang="en-IN" sz="2000" dirty="0"/>
              <a:t>-</a:t>
            </a:r>
            <a:r>
              <a:rPr lang="en-US" sz="2000" dirty="0"/>
              <a:t>Data cleaning is the process of identifying and correcting errors or inconsistencies in the dataset. It includes handling missing values, removing duplicate records, correcting data types, and eliminating outliers. In this project, null values are treated using appropriate techniques such as mean, median, or mode imputation.</a:t>
            </a:r>
          </a:p>
          <a:p>
            <a:pPr algn="just"/>
            <a:endParaRPr lang="en-IN" sz="2000" dirty="0"/>
          </a:p>
          <a:p>
            <a:pPr algn="just"/>
            <a:r>
              <a:rPr lang="en-IN" sz="2000" dirty="0"/>
              <a:t>    </a:t>
            </a:r>
            <a:r>
              <a:rPr lang="en-IN" sz="1600" dirty="0"/>
              <a:t>●</a:t>
            </a:r>
            <a:r>
              <a:rPr lang="en-IN" sz="2000" dirty="0"/>
              <a:t> </a:t>
            </a:r>
            <a:r>
              <a:rPr lang="en-IN" sz="2000" dirty="0">
                <a:solidFill>
                  <a:schemeClr val="accent4">
                    <a:lumMod val="75000"/>
                  </a:schemeClr>
                </a:solidFill>
              </a:rPr>
              <a:t>Label encoding</a:t>
            </a:r>
            <a:r>
              <a:rPr lang="en-IN" sz="2000" dirty="0"/>
              <a:t>:-  </a:t>
            </a:r>
            <a:r>
              <a:rPr lang="en-US" sz="2000" dirty="0"/>
              <a:t>Label encoding is a preprocessing technique used to convert categorical data into numerical form so that machine learning algorithms can process it. In this method, each unique category is assigned a numerical value. </a:t>
            </a:r>
          </a:p>
          <a:p>
            <a:pPr algn="just"/>
            <a:r>
              <a:rPr lang="en-US" sz="2000" dirty="0"/>
              <a:t>Cash Out-1</a:t>
            </a:r>
          </a:p>
          <a:p>
            <a:pPr algn="just"/>
            <a:r>
              <a:rPr lang="en-US" sz="2000" dirty="0"/>
              <a:t>Payment-2</a:t>
            </a:r>
          </a:p>
          <a:p>
            <a:pPr algn="just"/>
            <a:r>
              <a:rPr lang="en-US" sz="2000" dirty="0"/>
              <a:t>Cash In-3</a:t>
            </a:r>
          </a:p>
          <a:p>
            <a:pPr algn="just"/>
            <a:r>
              <a:rPr lang="en-US" sz="2000" dirty="0"/>
              <a:t>Transfer-4</a:t>
            </a:r>
          </a:p>
          <a:p>
            <a:pPr algn="just"/>
            <a:r>
              <a:rPr lang="en-US" sz="2000" dirty="0"/>
              <a:t>Debit-5</a:t>
            </a:r>
          </a:p>
          <a:p>
            <a:endParaRPr lang="en-IN" sz="2400" dirty="0"/>
          </a:p>
        </p:txBody>
      </p:sp>
    </p:spTree>
    <p:extLst>
      <p:ext uri="{BB962C8B-B14F-4D97-AF65-F5344CB8AC3E}">
        <p14:creationId xmlns:p14="http://schemas.microsoft.com/office/powerpoint/2010/main" val="988026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D43C3-CCB5-72F3-FAAD-8F16D52CE7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B8FD92-E168-0106-1AA8-7D31557B978C}"/>
              </a:ext>
            </a:extLst>
          </p:cNvPr>
          <p:cNvSpPr txBox="1"/>
          <p:nvPr/>
        </p:nvSpPr>
        <p:spPr>
          <a:xfrm>
            <a:off x="9331" y="74235"/>
            <a:ext cx="12182669" cy="7786747"/>
          </a:xfrm>
          <a:prstGeom prst="rect">
            <a:avLst/>
          </a:prstGeom>
          <a:noFill/>
        </p:spPr>
        <p:txBody>
          <a:bodyPr wrap="square" rtlCol="0">
            <a:spAutoFit/>
          </a:bodyPr>
          <a:lstStyle/>
          <a:p>
            <a:pPr algn="just"/>
            <a:r>
              <a:rPr lang="en-IN" sz="2400" dirty="0"/>
              <a:t>● </a:t>
            </a:r>
            <a:r>
              <a:rPr lang="en-IN" sz="3200" dirty="0">
                <a:solidFill>
                  <a:srgbClr val="0070C0"/>
                </a:solidFill>
              </a:rPr>
              <a:t>Model Training</a:t>
            </a:r>
            <a:r>
              <a:rPr lang="en-IN" sz="2400" b="1" dirty="0"/>
              <a:t>:-</a:t>
            </a:r>
          </a:p>
          <a:p>
            <a:pPr algn="just"/>
            <a:endParaRPr lang="en-IN" sz="2400" b="1" dirty="0"/>
          </a:p>
          <a:p>
            <a:pPr algn="just"/>
            <a:r>
              <a:rPr lang="en-IN" sz="2000" dirty="0"/>
              <a:t>●</a:t>
            </a:r>
            <a:r>
              <a:rPr lang="en-IN" sz="1600" dirty="0"/>
              <a:t>  </a:t>
            </a:r>
            <a:r>
              <a:rPr lang="en-US" sz="2000" dirty="0"/>
              <a:t>After completing data preprocessing and feature engineering, the dataset was divided into training data and </a:t>
            </a:r>
          </a:p>
          <a:p>
            <a:pPr algn="just"/>
            <a:r>
              <a:rPr lang="en-US" sz="2000" dirty="0"/>
              <a:t>     testing data for model development.</a:t>
            </a:r>
          </a:p>
          <a:p>
            <a:pPr algn="just"/>
            <a:endParaRPr lang="en-IN" sz="2000" dirty="0"/>
          </a:p>
          <a:p>
            <a:pPr algn="just"/>
            <a:r>
              <a:rPr lang="en-IN" sz="2000" dirty="0"/>
              <a:t>● </a:t>
            </a:r>
            <a:r>
              <a:rPr lang="en-US" sz="2000" dirty="0"/>
              <a:t>Two machine learning algorithms were used for training the fraud detection model: Random Forest and </a:t>
            </a:r>
            <a:r>
              <a:rPr lang="en-US" sz="2000" dirty="0" err="1"/>
              <a:t>XGBoost</a:t>
            </a:r>
            <a:r>
              <a:rPr lang="en-US" sz="2000" dirty="0"/>
              <a:t>.</a:t>
            </a:r>
          </a:p>
          <a:p>
            <a:pPr algn="just"/>
            <a:endParaRPr lang="en-US" sz="2000" dirty="0"/>
          </a:p>
          <a:p>
            <a:pPr algn="just"/>
            <a:r>
              <a:rPr lang="en-IN" sz="2000" dirty="0"/>
              <a:t>● </a:t>
            </a:r>
            <a:r>
              <a:rPr lang="en-US" sz="2000" dirty="0"/>
              <a:t>The Random Forest model was first trained on the dataset to learn patterns of normal and fraudulent transactions using multiple decision trees.</a:t>
            </a:r>
          </a:p>
          <a:p>
            <a:pPr algn="just"/>
            <a:endParaRPr lang="en-US" sz="2000" dirty="0"/>
          </a:p>
          <a:p>
            <a:pPr algn="just"/>
            <a:r>
              <a:rPr lang="en-IN" sz="2000" dirty="0"/>
              <a:t>●</a:t>
            </a:r>
            <a:r>
              <a:rPr lang="en-US" sz="2000" dirty="0"/>
              <a:t> Next, the </a:t>
            </a:r>
            <a:r>
              <a:rPr lang="en-US" sz="2000" dirty="0" err="1"/>
              <a:t>XGBoost</a:t>
            </a:r>
            <a:r>
              <a:rPr lang="en-US" sz="2000" dirty="0"/>
              <a:t> model was trained, which is an advanced boosting algorithm that improves prediction accuracy by combining multiple weak learners.</a:t>
            </a:r>
          </a:p>
          <a:p>
            <a:pPr algn="just"/>
            <a:endParaRPr lang="en-US" sz="2000" dirty="0"/>
          </a:p>
          <a:p>
            <a:pPr algn="just"/>
            <a:r>
              <a:rPr lang="en-IN" sz="2000" dirty="0"/>
              <a:t>●</a:t>
            </a:r>
            <a:r>
              <a:rPr lang="en-US" sz="2000" dirty="0"/>
              <a:t> Both models were evaluated using performance metrics such as accuracy and prediction score to determine their effectiveness in fraud detection.</a:t>
            </a:r>
            <a:endParaRPr lang="en-IN" sz="2000" dirty="0"/>
          </a:p>
          <a:p>
            <a:pPr algn="just"/>
            <a:endParaRPr lang="en-IN" sz="2000" dirty="0"/>
          </a:p>
          <a:p>
            <a:pPr algn="just"/>
            <a:r>
              <a:rPr lang="en-IN" sz="2000" dirty="0"/>
              <a:t>●</a:t>
            </a:r>
            <a:r>
              <a:rPr lang="en-US" sz="2000" dirty="0"/>
              <a:t> After comparison, </a:t>
            </a:r>
            <a:r>
              <a:rPr lang="en-US" sz="2000" dirty="0" err="1"/>
              <a:t>XGBoost</a:t>
            </a:r>
            <a:r>
              <a:rPr lang="en-US" sz="2000" dirty="0"/>
              <a:t> performed better than Random Forest, achieving a higher accuracy and better prediction performance.</a:t>
            </a:r>
          </a:p>
          <a:p>
            <a:pPr algn="just"/>
            <a:endParaRPr lang="en-US" sz="2000" dirty="0"/>
          </a:p>
          <a:p>
            <a:pPr algn="just"/>
            <a:r>
              <a:rPr lang="en-IN" sz="2000" dirty="0"/>
              <a:t>●</a:t>
            </a:r>
            <a:r>
              <a:rPr lang="en-US" sz="2000" dirty="0"/>
              <a:t> Therefore, the </a:t>
            </a:r>
            <a:r>
              <a:rPr lang="en-US" sz="2000" dirty="0" err="1"/>
              <a:t>XGBoost</a:t>
            </a:r>
            <a:r>
              <a:rPr lang="en-US" sz="2000" dirty="0"/>
              <a:t> model was selected as the final model for detecting fraudulent digital payment transactions.</a:t>
            </a:r>
            <a:endParaRPr lang="en-IN" sz="2000" dirty="0"/>
          </a:p>
          <a:p>
            <a:endParaRPr lang="en-IN" sz="2000" dirty="0"/>
          </a:p>
          <a:p>
            <a:endParaRPr lang="en-IN" sz="2000" dirty="0"/>
          </a:p>
          <a:p>
            <a:endParaRPr lang="en-IN" sz="2400" dirty="0"/>
          </a:p>
        </p:txBody>
      </p:sp>
    </p:spTree>
    <p:extLst>
      <p:ext uri="{BB962C8B-B14F-4D97-AF65-F5344CB8AC3E}">
        <p14:creationId xmlns:p14="http://schemas.microsoft.com/office/powerpoint/2010/main" val="1287052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C9989-57D4-1A73-66AA-90B5269AACB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3AF592-D181-85F1-53D9-BB17E138C366}"/>
              </a:ext>
            </a:extLst>
          </p:cNvPr>
          <p:cNvSpPr txBox="1"/>
          <p:nvPr/>
        </p:nvSpPr>
        <p:spPr>
          <a:xfrm>
            <a:off x="9331" y="65336"/>
            <a:ext cx="6239069" cy="6555641"/>
          </a:xfrm>
          <a:prstGeom prst="rect">
            <a:avLst/>
          </a:prstGeom>
          <a:noFill/>
        </p:spPr>
        <p:txBody>
          <a:bodyPr wrap="square" rtlCol="0">
            <a:spAutoFit/>
          </a:bodyPr>
          <a:lstStyle/>
          <a:p>
            <a:pPr algn="just"/>
            <a:r>
              <a:rPr lang="en-IN" sz="2400" dirty="0"/>
              <a:t>●</a:t>
            </a:r>
            <a:r>
              <a:rPr lang="en-IN" sz="2400" dirty="0">
                <a:solidFill>
                  <a:srgbClr val="0070C0"/>
                </a:solidFill>
              </a:rPr>
              <a:t> </a:t>
            </a:r>
            <a:r>
              <a:rPr lang="en-IN" sz="3200" dirty="0">
                <a:solidFill>
                  <a:srgbClr val="0070C0"/>
                </a:solidFill>
              </a:rPr>
              <a:t>Evaluation</a:t>
            </a:r>
            <a:r>
              <a:rPr lang="en-IN" sz="2400" b="1" dirty="0"/>
              <a:t>:-</a:t>
            </a:r>
          </a:p>
          <a:p>
            <a:pPr algn="just"/>
            <a:endParaRPr lang="en-IN" sz="2400" b="1" dirty="0"/>
          </a:p>
          <a:p>
            <a:pPr algn="just"/>
            <a:r>
              <a:rPr lang="en-IN" sz="2400" dirty="0"/>
              <a:t> </a:t>
            </a:r>
            <a:r>
              <a:rPr lang="en-IN" sz="2000" dirty="0"/>
              <a:t>● I</a:t>
            </a:r>
            <a:r>
              <a:rPr lang="en-US" sz="2000" dirty="0"/>
              <a:t>n the evaluation stage, the performance of the trained machine learning models was tested using the testing dataset. The models used for evaluation were Random Forest and </a:t>
            </a:r>
            <a:r>
              <a:rPr lang="en-US" sz="2000" dirty="0" err="1"/>
              <a:t>XGBoost</a:t>
            </a:r>
            <a:r>
              <a:rPr lang="en-US" sz="2000" dirty="0"/>
              <a:t>.</a:t>
            </a:r>
          </a:p>
          <a:p>
            <a:pPr algn="just"/>
            <a:endParaRPr lang="en-US" sz="2000" dirty="0"/>
          </a:p>
          <a:p>
            <a:pPr algn="just"/>
            <a:r>
              <a:rPr lang="en-IN" sz="2000" dirty="0"/>
              <a:t>●</a:t>
            </a:r>
            <a:r>
              <a:rPr lang="en-US" sz="2000" dirty="0"/>
              <a:t> Both models were evaluated using performance metrics such as accuracy, precision, recall, and prediction score to measure how well the models could identify fraudulent and legitimate transactions. These metrics help in understanding the effectiveness of the fraud detection system.</a:t>
            </a:r>
          </a:p>
          <a:p>
            <a:pPr algn="just"/>
            <a:endParaRPr lang="en-US" sz="2000" dirty="0"/>
          </a:p>
          <a:p>
            <a:pPr algn="just"/>
            <a:r>
              <a:rPr lang="en-IN" sz="2000" dirty="0"/>
              <a:t>●</a:t>
            </a:r>
            <a:r>
              <a:rPr lang="en-US" sz="2000" dirty="0"/>
              <a:t> After comparing the results, the </a:t>
            </a:r>
            <a:r>
              <a:rPr lang="en-US" sz="2000" dirty="0" err="1"/>
              <a:t>XGBoost</a:t>
            </a:r>
            <a:r>
              <a:rPr lang="en-US" sz="2000" dirty="0"/>
              <a:t> model performed better than the Random Forest model by achieving a higher accuracy and better prediction performance. Because of its better evaluation score, </a:t>
            </a:r>
            <a:r>
              <a:rPr lang="en-US" sz="2000" dirty="0" err="1"/>
              <a:t>XGBoost</a:t>
            </a:r>
            <a:r>
              <a:rPr lang="en-US" sz="2000" dirty="0"/>
              <a:t> was selected as the final model for the fraud detection system.</a:t>
            </a:r>
            <a:endParaRPr lang="en-IN" sz="2000" dirty="0"/>
          </a:p>
        </p:txBody>
      </p:sp>
      <p:sp>
        <p:nvSpPr>
          <p:cNvPr id="6" name="AutoShape 2">
            <a:extLst>
              <a:ext uri="{FF2B5EF4-FFF2-40B4-BE49-F238E27FC236}">
                <a16:creationId xmlns:a16="http://schemas.microsoft.com/office/drawing/2014/main" id="{612AF197-F627-9909-B246-F2627F11C0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a:extLst>
              <a:ext uri="{FF2B5EF4-FFF2-40B4-BE49-F238E27FC236}">
                <a16:creationId xmlns:a16="http://schemas.microsoft.com/office/drawing/2014/main" id="{115B8A0A-238F-BFD8-5E83-5837690DC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941" y="3276600"/>
            <a:ext cx="5900059" cy="3581400"/>
          </a:xfrm>
          <a:prstGeom prst="rect">
            <a:avLst/>
          </a:prstGeom>
        </p:spPr>
      </p:pic>
      <p:pic>
        <p:nvPicPr>
          <p:cNvPr id="18" name="Picture 17">
            <a:extLst>
              <a:ext uri="{FF2B5EF4-FFF2-40B4-BE49-F238E27FC236}">
                <a16:creationId xmlns:a16="http://schemas.microsoft.com/office/drawing/2014/main" id="{4DDC3972-9843-2AC0-EC5D-5BB9FF4787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1941" y="-65314"/>
            <a:ext cx="5900060" cy="3341914"/>
          </a:xfrm>
          <a:prstGeom prst="rect">
            <a:avLst/>
          </a:prstGeom>
        </p:spPr>
      </p:pic>
    </p:spTree>
    <p:extLst>
      <p:ext uri="{BB962C8B-B14F-4D97-AF65-F5344CB8AC3E}">
        <p14:creationId xmlns:p14="http://schemas.microsoft.com/office/powerpoint/2010/main" val="1167303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AFA2-3A59-4524-854B-EFB63CA1DF0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98724C-726B-1839-EF15-5EB7E34906CB}"/>
              </a:ext>
            </a:extLst>
          </p:cNvPr>
          <p:cNvSpPr txBox="1"/>
          <p:nvPr/>
        </p:nvSpPr>
        <p:spPr>
          <a:xfrm>
            <a:off x="9331" y="65336"/>
            <a:ext cx="12182669" cy="6801862"/>
          </a:xfrm>
          <a:prstGeom prst="rect">
            <a:avLst/>
          </a:prstGeom>
          <a:noFill/>
        </p:spPr>
        <p:txBody>
          <a:bodyPr wrap="square" rtlCol="0">
            <a:spAutoFit/>
          </a:bodyPr>
          <a:lstStyle/>
          <a:p>
            <a:pPr algn="just"/>
            <a:r>
              <a:rPr lang="en-IN" sz="2400" dirty="0"/>
              <a:t>● </a:t>
            </a:r>
            <a:r>
              <a:rPr lang="en-IN" sz="3200" dirty="0">
                <a:solidFill>
                  <a:srgbClr val="0070C0"/>
                </a:solidFill>
              </a:rPr>
              <a:t>Development</a:t>
            </a:r>
            <a:r>
              <a:rPr lang="en-IN" sz="2400" b="1" dirty="0"/>
              <a:t>:-</a:t>
            </a:r>
          </a:p>
          <a:p>
            <a:pPr algn="just"/>
            <a:endParaRPr lang="en-IN" sz="2400" b="1" dirty="0"/>
          </a:p>
          <a:p>
            <a:pPr algn="just"/>
            <a:r>
              <a:rPr lang="en-IN" sz="2000" dirty="0"/>
              <a:t>●</a:t>
            </a:r>
            <a:r>
              <a:rPr lang="en-US" sz="2000" dirty="0"/>
              <a:t> The fraud detection system was developed using machine learning techniques to analyze digital payment transactions.</a:t>
            </a:r>
            <a:endParaRPr lang="en-IN" sz="2000" dirty="0"/>
          </a:p>
          <a:p>
            <a:pPr algn="just"/>
            <a:endParaRPr lang="en-IN" sz="2000" dirty="0"/>
          </a:p>
          <a:p>
            <a:pPr algn="just"/>
            <a:r>
              <a:rPr lang="en-IN" sz="2000" dirty="0"/>
              <a:t>●</a:t>
            </a:r>
            <a:r>
              <a:rPr lang="en-US" sz="2000" dirty="0"/>
              <a:t> The project was implemented using the Python programming language and data science libraries such as Pandas, NumPy, Scikit-learn, and </a:t>
            </a:r>
            <a:r>
              <a:rPr lang="en-US" sz="2000" dirty="0" err="1"/>
              <a:t>XGBoost</a:t>
            </a:r>
            <a:endParaRPr lang="en-IN" sz="2000" dirty="0"/>
          </a:p>
          <a:p>
            <a:pPr algn="just"/>
            <a:endParaRPr lang="en-IN" sz="2000" dirty="0"/>
          </a:p>
          <a:p>
            <a:pPr algn="just"/>
            <a:r>
              <a:rPr lang="en-IN" sz="2000" dirty="0"/>
              <a:t>●</a:t>
            </a:r>
            <a:r>
              <a:rPr lang="en-US" sz="2000" dirty="0"/>
              <a:t> First, the dataset was imported and processed using Pandas for data analysis and manipulation.</a:t>
            </a:r>
            <a:endParaRPr lang="en-IN" sz="2000" dirty="0"/>
          </a:p>
          <a:p>
            <a:pPr algn="just"/>
            <a:endParaRPr lang="en-IN" sz="2000" dirty="0"/>
          </a:p>
          <a:p>
            <a:pPr algn="just"/>
            <a:r>
              <a:rPr lang="en-IN" sz="2000" dirty="0"/>
              <a:t>●</a:t>
            </a:r>
            <a:r>
              <a:rPr lang="en-US" sz="2000" dirty="0"/>
              <a:t> Data preprocessing and feature engineering techniques were applied to prepare the dataset for model training.</a:t>
            </a:r>
            <a:endParaRPr lang="en-IN" sz="2000" dirty="0"/>
          </a:p>
          <a:p>
            <a:pPr algn="just"/>
            <a:endParaRPr lang="en-IN" sz="2000" dirty="0"/>
          </a:p>
          <a:p>
            <a:pPr algn="just"/>
            <a:r>
              <a:rPr lang="en-IN" sz="2000" dirty="0"/>
              <a:t>●</a:t>
            </a:r>
            <a:r>
              <a:rPr lang="en-US" sz="2000" dirty="0"/>
              <a:t> Machine learning models were then developed and trained to detect fraudulent transactions</a:t>
            </a:r>
            <a:endParaRPr lang="en-IN" sz="2000" dirty="0"/>
          </a:p>
          <a:p>
            <a:pPr algn="just"/>
            <a:endParaRPr lang="en-IN" sz="2000" dirty="0"/>
          </a:p>
          <a:p>
            <a:pPr algn="just"/>
            <a:r>
              <a:rPr lang="en-IN" sz="2000" dirty="0"/>
              <a:t>●</a:t>
            </a:r>
            <a:r>
              <a:rPr lang="en-US" sz="2000" dirty="0"/>
              <a:t>The trained model was integrated into the system to predict whether a transaction is fraudulent or legitimate.</a:t>
            </a:r>
            <a:endParaRPr lang="en-IN" sz="2000" dirty="0"/>
          </a:p>
          <a:p>
            <a:pPr algn="just"/>
            <a:endParaRPr lang="en-IN" sz="2000" dirty="0"/>
          </a:p>
          <a:p>
            <a:pPr algn="just"/>
            <a:r>
              <a:rPr lang="en-IN" sz="2000" dirty="0"/>
              <a:t>●</a:t>
            </a:r>
            <a:r>
              <a:rPr lang="en-US" sz="2000" dirty="0"/>
              <a:t>The final system helps improve security in digital payment platforms by automatically detecting suspicious transactions.</a:t>
            </a:r>
            <a:endParaRPr lang="en-IN" sz="2000" dirty="0"/>
          </a:p>
          <a:p>
            <a:pPr algn="just"/>
            <a:endParaRPr lang="en-IN" sz="2000" dirty="0"/>
          </a:p>
          <a:p>
            <a:pPr algn="just"/>
            <a:endParaRPr lang="en-IN" sz="2000" dirty="0"/>
          </a:p>
          <a:p>
            <a:endParaRPr lang="en-IN" sz="2000" dirty="0"/>
          </a:p>
        </p:txBody>
      </p:sp>
    </p:spTree>
    <p:extLst>
      <p:ext uri="{BB962C8B-B14F-4D97-AF65-F5344CB8AC3E}">
        <p14:creationId xmlns:p14="http://schemas.microsoft.com/office/powerpoint/2010/main" val="2329084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693F6-9CC2-F75B-E388-F8A56A1DAEB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7DF400-1D67-B6B5-B382-69715A220F2F}"/>
              </a:ext>
            </a:extLst>
          </p:cNvPr>
          <p:cNvSpPr txBox="1"/>
          <p:nvPr/>
        </p:nvSpPr>
        <p:spPr>
          <a:xfrm>
            <a:off x="354521" y="0"/>
            <a:ext cx="11187446" cy="7171194"/>
          </a:xfrm>
          <a:prstGeom prst="rect">
            <a:avLst/>
          </a:prstGeom>
          <a:noFill/>
        </p:spPr>
        <p:txBody>
          <a:bodyPr wrap="square" rtlCol="0">
            <a:spAutoFit/>
          </a:bodyPr>
          <a:lstStyle/>
          <a:p>
            <a:r>
              <a:rPr lang="en-IN" sz="3200" dirty="0"/>
              <a:t>                                     </a:t>
            </a:r>
            <a:r>
              <a:rPr lang="en-IN" sz="3200" dirty="0">
                <a:solidFill>
                  <a:schemeClr val="accent6">
                    <a:lumMod val="60000"/>
                    <a:lumOff val="40000"/>
                  </a:schemeClr>
                </a:solidFill>
                <a:latin typeface="Arial Black" panose="020B0A04020102020204" pitchFamily="34" charset="0"/>
              </a:rPr>
              <a:t>Summary of Project</a:t>
            </a:r>
          </a:p>
          <a:p>
            <a:endParaRPr lang="en-IN" sz="3200" dirty="0"/>
          </a:p>
          <a:p>
            <a:pPr algn="just"/>
            <a:r>
              <a:rPr lang="en-IN" sz="2000" b="1" dirty="0"/>
              <a:t>●</a:t>
            </a:r>
            <a:r>
              <a:rPr lang="en-IN" sz="2400" b="1" dirty="0"/>
              <a:t> </a:t>
            </a:r>
            <a:r>
              <a:rPr lang="en-US" sz="2000" dirty="0"/>
              <a:t>The project Automated Fraud Detection in Digital Payment is designed to identify fraudulent transactions in online payment systems using Machine Learning(</a:t>
            </a:r>
            <a:r>
              <a:rPr lang="en-US" sz="2000" dirty="0" err="1"/>
              <a:t>Xg</a:t>
            </a:r>
            <a:r>
              <a:rPr lang="en-US" sz="2000" dirty="0"/>
              <a:t> boost) techniques. With the rapid growth of digital payments, fraud activities have also increased</a:t>
            </a:r>
            <a:endParaRPr lang="en-IN" sz="2000" dirty="0"/>
          </a:p>
          <a:p>
            <a:pPr algn="just"/>
            <a:endParaRPr lang="en-IN" sz="2000" dirty="0"/>
          </a:p>
          <a:p>
            <a:pPr algn="just"/>
            <a:r>
              <a:rPr lang="en-IN" sz="2000" dirty="0"/>
              <a:t>● </a:t>
            </a:r>
            <a:r>
              <a:rPr lang="en-US" sz="2000" dirty="0"/>
              <a:t>This project aims to build an intelligent system that can automatically analyze transaction data and detect suspicious activities</a:t>
            </a:r>
          </a:p>
          <a:p>
            <a:pPr algn="just"/>
            <a:endParaRPr lang="en-IN" sz="2000" dirty="0"/>
          </a:p>
          <a:p>
            <a:pPr algn="just"/>
            <a:r>
              <a:rPr lang="en-IN" sz="2000" dirty="0"/>
              <a:t>● </a:t>
            </a:r>
            <a:r>
              <a:rPr lang="en-US" sz="2000" dirty="0"/>
              <a:t>The system uses a large dataset of online payment transactions to study patterns and behaviors of both normal and fraudulent transactions</a:t>
            </a:r>
            <a:endParaRPr lang="en-IN" sz="2000" dirty="0"/>
          </a:p>
          <a:p>
            <a:pPr algn="just"/>
            <a:endParaRPr lang="en-IN" sz="2000" dirty="0"/>
          </a:p>
          <a:p>
            <a:pPr algn="just"/>
            <a:r>
              <a:rPr lang="en-IN" sz="2000" dirty="0"/>
              <a:t>● </a:t>
            </a:r>
            <a:r>
              <a:rPr lang="en-US" sz="2000" dirty="0"/>
              <a:t>By applying machine learning classification algorithms, the model learns to differentiate between legitimate and fraudulent transactions</a:t>
            </a:r>
          </a:p>
          <a:p>
            <a:pPr algn="just"/>
            <a:endParaRPr lang="en-IN" sz="2000" dirty="0"/>
          </a:p>
          <a:p>
            <a:pPr algn="just"/>
            <a:r>
              <a:rPr lang="en-IN" sz="2000" dirty="0"/>
              <a:t>● </a:t>
            </a:r>
            <a:r>
              <a:rPr lang="en-US" sz="2000" dirty="0"/>
              <a:t>The dataset is first preprocessed by removing missing values, cleaning inconsistent data, and transforming categorical data into numerical form using label encoding.</a:t>
            </a:r>
          </a:p>
          <a:p>
            <a:pPr algn="just"/>
            <a:endParaRPr lang="en-IN" sz="2000" dirty="0"/>
          </a:p>
          <a:p>
            <a:pPr algn="just"/>
            <a:r>
              <a:rPr lang="en-IN" sz="2000" dirty="0"/>
              <a:t>●</a:t>
            </a:r>
            <a:r>
              <a:rPr lang="en-US" sz="2000" dirty="0"/>
              <a:t> This helps banks and online payment platforms detect fraud in real time, reduce financial losses, and improve customer trust in digital payment systems.</a:t>
            </a:r>
            <a:endParaRPr lang="en-IN" sz="2000" dirty="0"/>
          </a:p>
          <a:p>
            <a:r>
              <a:rPr lang="en-IN" sz="3200" dirty="0"/>
              <a:t> </a:t>
            </a:r>
          </a:p>
        </p:txBody>
      </p:sp>
    </p:spTree>
    <p:extLst>
      <p:ext uri="{BB962C8B-B14F-4D97-AF65-F5344CB8AC3E}">
        <p14:creationId xmlns:p14="http://schemas.microsoft.com/office/powerpoint/2010/main" val="3150295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04779-AD2F-6ABA-1E32-1338B2D3BD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AEB4A87-F72B-0DA7-EF35-8BFAB1541B59}"/>
              </a:ext>
            </a:extLst>
          </p:cNvPr>
          <p:cNvSpPr txBox="1"/>
          <p:nvPr/>
        </p:nvSpPr>
        <p:spPr>
          <a:xfrm>
            <a:off x="143068" y="27992"/>
            <a:ext cx="11905863" cy="6309420"/>
          </a:xfrm>
          <a:prstGeom prst="rect">
            <a:avLst/>
          </a:prstGeom>
          <a:noFill/>
        </p:spPr>
        <p:txBody>
          <a:bodyPr wrap="square" rtlCol="0">
            <a:spAutoFit/>
          </a:bodyPr>
          <a:lstStyle/>
          <a:p>
            <a:r>
              <a:rPr lang="en-IN" sz="3200" dirty="0"/>
              <a:t>                                  </a:t>
            </a:r>
            <a:r>
              <a:rPr lang="en-IN" sz="3200" dirty="0">
                <a:solidFill>
                  <a:schemeClr val="accent6">
                    <a:lumMod val="60000"/>
                    <a:lumOff val="40000"/>
                  </a:schemeClr>
                </a:solidFill>
                <a:latin typeface="Arial Black" panose="020B0A04020102020204" pitchFamily="34" charset="0"/>
              </a:rPr>
              <a:t>Design &amp; Implementation</a:t>
            </a:r>
          </a:p>
          <a:p>
            <a:endParaRPr lang="en-IN" sz="3200" dirty="0"/>
          </a:p>
          <a:p>
            <a:pPr algn="just"/>
            <a:r>
              <a:rPr lang="en-IN" sz="2000" b="1" dirty="0"/>
              <a:t>● </a:t>
            </a:r>
            <a:r>
              <a:rPr lang="en-US" sz="2000" dirty="0"/>
              <a:t>First, the data collection stage was performed using a publicly available dataset of online payment transactions from Kaggle. This dataset contains various attributes such as transaction type, amount, and account details that help in identifying fraudulent patterns.</a:t>
            </a:r>
          </a:p>
          <a:p>
            <a:pPr algn="just"/>
            <a:endParaRPr lang="en-IN" sz="2000" dirty="0"/>
          </a:p>
          <a:p>
            <a:pPr algn="just"/>
            <a:r>
              <a:rPr lang="en-IN" sz="2000" dirty="0"/>
              <a:t>● </a:t>
            </a:r>
            <a:r>
              <a:rPr lang="en-US" sz="2000" dirty="0"/>
              <a:t>Next, data preprocessing was carried out to prepare the dataset for machine learning. In this stage, missing values and inconsistent data were removed. The dataset was cleaned by eliminating duplicate records and correcting incorrect data types. Checking for null values ensured that the dataset was complete and reliable for further analysis.</a:t>
            </a:r>
          </a:p>
          <a:p>
            <a:pPr algn="just"/>
            <a:endParaRPr lang="en-IN" sz="2000" dirty="0"/>
          </a:p>
          <a:p>
            <a:pPr algn="just"/>
            <a:r>
              <a:rPr lang="en-IN" sz="2000" dirty="0"/>
              <a:t>●</a:t>
            </a:r>
            <a:r>
              <a:rPr lang="en-US" sz="2000" dirty="0"/>
              <a:t>After preprocessing, feature engineering was applied to improve the quality of the dataset. Mathematical checks were performed to verify the correctness of numerical values in the dataset. Categorical variables such as transaction type were converted into numerical form using label encoding, which helps machine learning algorithms process the data efficiently.</a:t>
            </a:r>
            <a:endParaRPr lang="en-IN" sz="2000" dirty="0"/>
          </a:p>
          <a:p>
            <a:pPr algn="just"/>
            <a:endParaRPr lang="en-US" sz="2000" dirty="0"/>
          </a:p>
          <a:p>
            <a:pPr algn="just"/>
            <a:r>
              <a:rPr lang="en-IN" sz="2000" dirty="0"/>
              <a:t>●</a:t>
            </a:r>
            <a:r>
              <a:rPr lang="en-US" sz="2000" dirty="0"/>
              <a:t>Once the dataset was prepared, the model training phase was conducted. Two machine learning algorithms, Random Forest and </a:t>
            </a:r>
            <a:r>
              <a:rPr lang="en-US" sz="2000" dirty="0" err="1"/>
              <a:t>XGBoost</a:t>
            </a:r>
            <a:r>
              <a:rPr lang="en-US" sz="2000" dirty="0"/>
              <a:t>, were used to train the model for fraud detection. Both algorithms were trained using the processed dataset to learn the patterns of fraudulent and legitimate transactions.</a:t>
            </a:r>
            <a:endParaRPr lang="en-IN" sz="2000" dirty="0"/>
          </a:p>
        </p:txBody>
      </p:sp>
    </p:spTree>
    <p:extLst>
      <p:ext uri="{BB962C8B-B14F-4D97-AF65-F5344CB8AC3E}">
        <p14:creationId xmlns:p14="http://schemas.microsoft.com/office/powerpoint/2010/main" val="773635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AFE37-1732-E9F4-0E86-291D52138CC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5D58C18-6CCA-6E11-C718-B9CE35D1CFB2}"/>
              </a:ext>
            </a:extLst>
          </p:cNvPr>
          <p:cNvSpPr txBox="1"/>
          <p:nvPr/>
        </p:nvSpPr>
        <p:spPr>
          <a:xfrm>
            <a:off x="9331" y="65336"/>
            <a:ext cx="12173338" cy="2308324"/>
          </a:xfrm>
          <a:prstGeom prst="rect">
            <a:avLst/>
          </a:prstGeom>
          <a:noFill/>
        </p:spPr>
        <p:txBody>
          <a:bodyPr wrap="square" rtlCol="0">
            <a:spAutoFit/>
          </a:bodyPr>
          <a:lstStyle/>
          <a:p>
            <a:pPr algn="just"/>
            <a:r>
              <a:rPr lang="en-IN" sz="2400" dirty="0"/>
              <a:t> </a:t>
            </a:r>
            <a:r>
              <a:rPr lang="en-IN" sz="2000" dirty="0"/>
              <a:t>● </a:t>
            </a:r>
            <a:r>
              <a:rPr lang="en-US" sz="2000" dirty="0"/>
              <a:t>During the evaluation stage, the performance of both models was compared based on their accuracy and prediction scores. The results showed that the </a:t>
            </a:r>
            <a:r>
              <a:rPr lang="en-US" sz="2000" dirty="0" err="1"/>
              <a:t>XGBoost</a:t>
            </a:r>
            <a:r>
              <a:rPr lang="en-US" sz="2000" dirty="0"/>
              <a:t> model performed better than Random Forest, achieving a higher performance score and better accuracy in identifying fraudulent transactions.</a:t>
            </a:r>
          </a:p>
          <a:p>
            <a:pPr algn="just"/>
            <a:endParaRPr lang="en-US" sz="2000" dirty="0"/>
          </a:p>
          <a:p>
            <a:pPr algn="just"/>
            <a:r>
              <a:rPr lang="en-IN" sz="2000" dirty="0"/>
              <a:t>●</a:t>
            </a:r>
            <a:r>
              <a:rPr lang="en-US" sz="2000" dirty="0"/>
              <a:t>Finally, the trained </a:t>
            </a:r>
            <a:r>
              <a:rPr lang="en-US" sz="2000" dirty="0" err="1"/>
              <a:t>XGBoost</a:t>
            </a:r>
            <a:r>
              <a:rPr lang="en-US" sz="2000" dirty="0"/>
              <a:t> model was used as the final model in the system to predict whether a transaction is fraudulent or genuine. This implementation helps in detecting fraud efficiently and improves the security of digital payment systems.</a:t>
            </a:r>
            <a:endParaRPr lang="en-IN" sz="2000" dirty="0"/>
          </a:p>
        </p:txBody>
      </p:sp>
      <p:sp>
        <p:nvSpPr>
          <p:cNvPr id="6" name="AutoShape 2">
            <a:extLst>
              <a:ext uri="{FF2B5EF4-FFF2-40B4-BE49-F238E27FC236}">
                <a16:creationId xmlns:a16="http://schemas.microsoft.com/office/drawing/2014/main" id="{498069C2-5527-8BE9-0412-31EABB8BE40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4847BD3E-6FC6-130B-0457-BDC75263A1F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331" y="2659224"/>
            <a:ext cx="12173338" cy="4198775"/>
          </a:xfrm>
          <a:prstGeom prst="rect">
            <a:avLst/>
          </a:prstGeom>
        </p:spPr>
      </p:pic>
    </p:spTree>
    <p:extLst>
      <p:ext uri="{BB962C8B-B14F-4D97-AF65-F5344CB8AC3E}">
        <p14:creationId xmlns:p14="http://schemas.microsoft.com/office/powerpoint/2010/main" val="678127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872FB-09E1-6F62-BD86-685E4CC204D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085E18-3553-0DA1-1CB8-D141147E0B98}"/>
              </a:ext>
            </a:extLst>
          </p:cNvPr>
          <p:cNvSpPr txBox="1"/>
          <p:nvPr/>
        </p:nvSpPr>
        <p:spPr>
          <a:xfrm>
            <a:off x="5178490" y="0"/>
            <a:ext cx="5206482" cy="584775"/>
          </a:xfrm>
          <a:prstGeom prst="rect">
            <a:avLst/>
          </a:prstGeom>
          <a:noFill/>
        </p:spPr>
        <p:txBody>
          <a:bodyPr wrap="square" rtlCol="0">
            <a:spAutoFit/>
          </a:bodyPr>
          <a:lstStyle/>
          <a:p>
            <a:pPr algn="just"/>
            <a:r>
              <a:rPr lang="en-IN" sz="3200" b="1" dirty="0">
                <a:solidFill>
                  <a:schemeClr val="accent6">
                    <a:lumMod val="60000"/>
                    <a:lumOff val="40000"/>
                  </a:schemeClr>
                </a:solidFill>
                <a:latin typeface="Arial Black" panose="020B0A04020102020204" pitchFamily="34" charset="0"/>
              </a:rPr>
              <a:t>Output</a:t>
            </a:r>
            <a:endParaRPr lang="en-US" sz="3200" b="1" dirty="0">
              <a:solidFill>
                <a:schemeClr val="accent6">
                  <a:lumMod val="60000"/>
                  <a:lumOff val="40000"/>
                </a:schemeClr>
              </a:solidFill>
              <a:latin typeface="Arial Black" panose="020B0A04020102020204" pitchFamily="34" charset="0"/>
            </a:endParaRPr>
          </a:p>
        </p:txBody>
      </p:sp>
      <p:sp>
        <p:nvSpPr>
          <p:cNvPr id="6" name="AutoShape 2">
            <a:extLst>
              <a:ext uri="{FF2B5EF4-FFF2-40B4-BE49-F238E27FC236}">
                <a16:creationId xmlns:a16="http://schemas.microsoft.com/office/drawing/2014/main" id="{630B8C0C-8060-0D35-55DA-9C7AB62A738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EA377582-FC3E-662F-AB00-C062ECE384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42393" y="905069"/>
            <a:ext cx="10506268" cy="5719666"/>
          </a:xfrm>
          <a:prstGeom prst="rect">
            <a:avLst/>
          </a:prstGeom>
        </p:spPr>
      </p:pic>
    </p:spTree>
    <p:extLst>
      <p:ext uri="{BB962C8B-B14F-4D97-AF65-F5344CB8AC3E}">
        <p14:creationId xmlns:p14="http://schemas.microsoft.com/office/powerpoint/2010/main" val="419854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4ACEF-5B0D-2863-7456-169BA5C2868E}"/>
            </a:ext>
          </a:extLst>
        </p:cNvPr>
        <p:cNvGrpSpPr/>
        <p:nvPr/>
      </p:nvGrpSpPr>
      <p:grpSpPr>
        <a:xfrm>
          <a:off x="0" y="0"/>
          <a:ext cx="0" cy="0"/>
          <a:chOff x="0" y="0"/>
          <a:chExt cx="0" cy="0"/>
        </a:xfrm>
      </p:grpSpPr>
      <p:sp>
        <p:nvSpPr>
          <p:cNvPr id="6" name="AutoShape 2">
            <a:extLst>
              <a:ext uri="{FF2B5EF4-FFF2-40B4-BE49-F238E27FC236}">
                <a16:creationId xmlns:a16="http://schemas.microsoft.com/office/drawing/2014/main" id="{B30DC46E-975F-4381-DDC1-AC9F7A05781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83AD5514-7721-67F3-1EB6-7AD8FD47A7E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974980" y="721567"/>
            <a:ext cx="8546840" cy="5719666"/>
          </a:xfrm>
          <a:prstGeom prst="rect">
            <a:avLst/>
          </a:prstGeom>
        </p:spPr>
      </p:pic>
    </p:spTree>
    <p:extLst>
      <p:ext uri="{BB962C8B-B14F-4D97-AF65-F5344CB8AC3E}">
        <p14:creationId xmlns:p14="http://schemas.microsoft.com/office/powerpoint/2010/main" val="1126199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7046D-03E1-6B9A-8106-288A20E8680A}"/>
            </a:ext>
          </a:extLst>
        </p:cNvPr>
        <p:cNvGrpSpPr/>
        <p:nvPr/>
      </p:nvGrpSpPr>
      <p:grpSpPr>
        <a:xfrm>
          <a:off x="0" y="0"/>
          <a:ext cx="0" cy="0"/>
          <a:chOff x="0" y="0"/>
          <a:chExt cx="0" cy="0"/>
        </a:xfrm>
      </p:grpSpPr>
      <p:sp>
        <p:nvSpPr>
          <p:cNvPr id="6" name="AutoShape 2">
            <a:extLst>
              <a:ext uri="{FF2B5EF4-FFF2-40B4-BE49-F238E27FC236}">
                <a16:creationId xmlns:a16="http://schemas.microsoft.com/office/drawing/2014/main" id="{D7D61FE8-A816-C320-A233-8AF8CDB99F4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1EFADDCE-D3A4-4376-813A-9A843C7A926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54156" y="721567"/>
            <a:ext cx="8920064" cy="5719666"/>
          </a:xfrm>
          <a:prstGeom prst="rect">
            <a:avLst/>
          </a:prstGeom>
        </p:spPr>
      </p:pic>
    </p:spTree>
    <p:extLst>
      <p:ext uri="{BB962C8B-B14F-4D97-AF65-F5344CB8AC3E}">
        <p14:creationId xmlns:p14="http://schemas.microsoft.com/office/powerpoint/2010/main" val="2045355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32CD4-C2CA-D069-6854-CD485722CAB9}"/>
            </a:ext>
          </a:extLst>
        </p:cNvPr>
        <p:cNvGrpSpPr/>
        <p:nvPr/>
      </p:nvGrpSpPr>
      <p:grpSpPr>
        <a:xfrm>
          <a:off x="0" y="0"/>
          <a:ext cx="0" cy="0"/>
          <a:chOff x="0" y="0"/>
          <a:chExt cx="0" cy="0"/>
        </a:xfrm>
      </p:grpSpPr>
      <p:sp>
        <p:nvSpPr>
          <p:cNvPr id="6" name="AutoShape 2">
            <a:extLst>
              <a:ext uri="{FF2B5EF4-FFF2-40B4-BE49-F238E27FC236}">
                <a16:creationId xmlns:a16="http://schemas.microsoft.com/office/drawing/2014/main" id="{EF492B08-08F7-B141-6FFB-BBDFCCB54C6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B6DD63FF-64F9-60B9-1868-68694DBA62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66122" y="721567"/>
            <a:ext cx="8770776" cy="5719666"/>
          </a:xfrm>
          <a:prstGeom prst="rect">
            <a:avLst/>
          </a:prstGeom>
        </p:spPr>
      </p:pic>
    </p:spTree>
    <p:extLst>
      <p:ext uri="{BB962C8B-B14F-4D97-AF65-F5344CB8AC3E}">
        <p14:creationId xmlns:p14="http://schemas.microsoft.com/office/powerpoint/2010/main" val="3938874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1A40DF-C675-66A7-9BB0-D15ED96493BD}"/>
              </a:ext>
            </a:extLst>
          </p:cNvPr>
          <p:cNvSpPr txBox="1"/>
          <p:nvPr/>
        </p:nvSpPr>
        <p:spPr>
          <a:xfrm>
            <a:off x="600363" y="267383"/>
            <a:ext cx="10991273" cy="5139869"/>
          </a:xfrm>
          <a:prstGeom prst="rect">
            <a:avLst/>
          </a:prstGeom>
          <a:noFill/>
        </p:spPr>
        <p:txBody>
          <a:bodyPr wrap="square">
            <a:spAutoFit/>
          </a:bodyPr>
          <a:lstStyle/>
          <a:p>
            <a:pPr algn="just"/>
            <a:r>
              <a:rPr lang="en-IN" sz="3200" dirty="0">
                <a:solidFill>
                  <a:schemeClr val="accent6">
                    <a:lumMod val="60000"/>
                    <a:lumOff val="40000"/>
                  </a:schemeClr>
                </a:solidFill>
              </a:rPr>
              <a:t>                                       </a:t>
            </a:r>
            <a:r>
              <a:rPr lang="en-IN" sz="3200" dirty="0">
                <a:solidFill>
                  <a:schemeClr val="accent6">
                    <a:lumMod val="60000"/>
                    <a:lumOff val="40000"/>
                  </a:schemeClr>
                </a:solidFill>
                <a:latin typeface="Arial Black" panose="020B0A04020102020204" pitchFamily="34" charset="0"/>
              </a:rPr>
              <a:t>CONCLUSION</a:t>
            </a:r>
          </a:p>
          <a:p>
            <a:pPr algn="just"/>
            <a:endParaRPr lang="en-IN" sz="3200" dirty="0">
              <a:latin typeface="Arial Black" panose="020B0A04020102020204" pitchFamily="34" charset="0"/>
            </a:endParaRPr>
          </a:p>
          <a:p>
            <a:pPr algn="just"/>
            <a:r>
              <a:rPr lang="en-IN" sz="2000" dirty="0"/>
              <a:t>●</a:t>
            </a:r>
            <a:r>
              <a:rPr lang="en-IN" sz="2400" dirty="0"/>
              <a:t>The project proves that ML is a </a:t>
            </a:r>
            <a:r>
              <a:rPr lang="en-IN" sz="2400" dirty="0" err="1"/>
              <a:t>powerfull</a:t>
            </a:r>
            <a:r>
              <a:rPr lang="en-IN" sz="2400" dirty="0"/>
              <a:t> and effective tool to prevent online payment fraud. </a:t>
            </a:r>
          </a:p>
          <a:p>
            <a:pPr algn="just"/>
            <a:endParaRPr lang="en-IN" sz="2400" dirty="0"/>
          </a:p>
          <a:p>
            <a:pPr algn="just"/>
            <a:r>
              <a:rPr lang="en-IN" sz="2000" dirty="0"/>
              <a:t>●</a:t>
            </a:r>
            <a:r>
              <a:rPr lang="en-IN" sz="2400" dirty="0"/>
              <a:t>This tool can help business and individuals to reduce financial losses from fraudulent transactions. </a:t>
            </a:r>
          </a:p>
          <a:p>
            <a:pPr algn="just"/>
            <a:endParaRPr lang="en-IN" sz="2400" dirty="0"/>
          </a:p>
          <a:p>
            <a:pPr algn="just"/>
            <a:r>
              <a:rPr lang="en-IN" sz="2000" dirty="0"/>
              <a:t>●</a:t>
            </a:r>
            <a:r>
              <a:rPr lang="en-IN" sz="2400" dirty="0"/>
              <a:t>Users can easily input transaction details through the web </a:t>
            </a:r>
          </a:p>
          <a:p>
            <a:pPr algn="just"/>
            <a:r>
              <a:rPr lang="en-IN" sz="2400" dirty="0"/>
              <a:t>Interface to get a prediction.</a:t>
            </a:r>
          </a:p>
          <a:p>
            <a:pPr algn="just"/>
            <a:endParaRPr lang="en-IN" sz="2400" dirty="0"/>
          </a:p>
          <a:p>
            <a:pPr algn="just"/>
            <a:r>
              <a:rPr lang="en-IN" sz="2000" dirty="0"/>
              <a:t>●</a:t>
            </a:r>
            <a:r>
              <a:rPr lang="en-IN" sz="2400" dirty="0"/>
              <a:t>The project confirms that machine learning is an indispensable tool for building the next generation of intelligent security systems.</a:t>
            </a:r>
          </a:p>
        </p:txBody>
      </p:sp>
    </p:spTree>
    <p:extLst>
      <p:ext uri="{BB962C8B-B14F-4D97-AF65-F5344CB8AC3E}">
        <p14:creationId xmlns:p14="http://schemas.microsoft.com/office/powerpoint/2010/main" val="3391282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E4958-0763-C17A-EB3F-E3C731CA73CC}"/>
            </a:ext>
          </a:extLst>
        </p:cNvPr>
        <p:cNvGrpSpPr/>
        <p:nvPr/>
      </p:nvGrpSpPr>
      <p:grpSpPr>
        <a:xfrm>
          <a:off x="0" y="0"/>
          <a:ext cx="0" cy="0"/>
          <a:chOff x="0" y="0"/>
          <a:chExt cx="0" cy="0"/>
        </a:xfrm>
      </p:grpSpPr>
      <p:sp>
        <p:nvSpPr>
          <p:cNvPr id="6" name="AutoShape 2">
            <a:extLst>
              <a:ext uri="{FF2B5EF4-FFF2-40B4-BE49-F238E27FC236}">
                <a16:creationId xmlns:a16="http://schemas.microsoft.com/office/drawing/2014/main" id="{877277DB-0E39-EE77-1465-377ADBC618A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TextBox 1">
            <a:extLst>
              <a:ext uri="{FF2B5EF4-FFF2-40B4-BE49-F238E27FC236}">
                <a16:creationId xmlns:a16="http://schemas.microsoft.com/office/drawing/2014/main" id="{ECB49543-B0D9-2BD5-AE5D-4F9D1254258C}"/>
              </a:ext>
            </a:extLst>
          </p:cNvPr>
          <p:cNvSpPr txBox="1"/>
          <p:nvPr/>
        </p:nvSpPr>
        <p:spPr>
          <a:xfrm>
            <a:off x="4216400" y="173177"/>
            <a:ext cx="7030720" cy="584775"/>
          </a:xfrm>
          <a:prstGeom prst="rect">
            <a:avLst/>
          </a:prstGeom>
          <a:noFill/>
        </p:spPr>
        <p:txBody>
          <a:bodyPr wrap="square" rtlCol="0">
            <a:spAutoFit/>
          </a:bodyPr>
          <a:lstStyle/>
          <a:p>
            <a:r>
              <a:rPr lang="en-IN" sz="3200" b="1" dirty="0">
                <a:solidFill>
                  <a:schemeClr val="accent6">
                    <a:lumMod val="60000"/>
                    <a:lumOff val="40000"/>
                  </a:schemeClr>
                </a:solidFill>
              </a:rPr>
              <a:t>PAPER PUBLICATION</a:t>
            </a:r>
          </a:p>
        </p:txBody>
      </p:sp>
      <p:sp>
        <p:nvSpPr>
          <p:cNvPr id="3" name="TextBox 2">
            <a:extLst>
              <a:ext uri="{FF2B5EF4-FFF2-40B4-BE49-F238E27FC236}">
                <a16:creationId xmlns:a16="http://schemas.microsoft.com/office/drawing/2014/main" id="{0A2D4625-BEBA-158C-4F13-338D6A448683}"/>
              </a:ext>
            </a:extLst>
          </p:cNvPr>
          <p:cNvSpPr txBox="1"/>
          <p:nvPr/>
        </p:nvSpPr>
        <p:spPr>
          <a:xfrm>
            <a:off x="264160" y="1351280"/>
            <a:ext cx="11795760" cy="1323439"/>
          </a:xfrm>
          <a:prstGeom prst="rect">
            <a:avLst/>
          </a:prstGeom>
          <a:noFill/>
        </p:spPr>
        <p:txBody>
          <a:bodyPr wrap="square" rtlCol="0">
            <a:spAutoFit/>
          </a:bodyPr>
          <a:lstStyle/>
          <a:p>
            <a:r>
              <a:rPr lang="en-IN" sz="2800" dirty="0">
                <a:solidFill>
                  <a:schemeClr val="accent3">
                    <a:lumMod val="60000"/>
                    <a:lumOff val="40000"/>
                  </a:schemeClr>
                </a:solidFill>
              </a:rPr>
              <a:t>Link</a:t>
            </a:r>
            <a:r>
              <a:rPr lang="en-IN" sz="3200" dirty="0">
                <a:solidFill>
                  <a:schemeClr val="accent3">
                    <a:lumMod val="60000"/>
                    <a:lumOff val="40000"/>
                  </a:schemeClr>
                </a:solidFill>
              </a:rPr>
              <a:t>:-</a:t>
            </a:r>
            <a:r>
              <a:rPr lang="en-IN" sz="2400" dirty="0"/>
              <a:t>https://www.ijirset.com/upload/2026/march/250_Automated%20Fraud%20Detection%20in%20Digital%20Payments.</a:t>
            </a:r>
          </a:p>
        </p:txBody>
      </p:sp>
    </p:spTree>
    <p:extLst>
      <p:ext uri="{BB962C8B-B14F-4D97-AF65-F5344CB8AC3E}">
        <p14:creationId xmlns:p14="http://schemas.microsoft.com/office/powerpoint/2010/main" val="2699258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779F0-9570-D366-049D-D8CE8444361C}"/>
            </a:ext>
          </a:extLst>
        </p:cNvPr>
        <p:cNvGrpSpPr/>
        <p:nvPr/>
      </p:nvGrpSpPr>
      <p:grpSpPr>
        <a:xfrm>
          <a:off x="0" y="0"/>
          <a:ext cx="0" cy="0"/>
          <a:chOff x="0" y="0"/>
          <a:chExt cx="0" cy="0"/>
        </a:xfrm>
      </p:grpSpPr>
      <p:sp>
        <p:nvSpPr>
          <p:cNvPr id="6" name="AutoShape 2">
            <a:extLst>
              <a:ext uri="{FF2B5EF4-FFF2-40B4-BE49-F238E27FC236}">
                <a16:creationId xmlns:a16="http://schemas.microsoft.com/office/drawing/2014/main" id="{5BC87414-50DD-5C04-4C24-A165E13FF25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a:extLst>
              <a:ext uri="{FF2B5EF4-FFF2-40B4-BE49-F238E27FC236}">
                <a16:creationId xmlns:a16="http://schemas.microsoft.com/office/drawing/2014/main" id="{93002870-E015-480C-1A87-5CE33620386A}"/>
              </a:ext>
            </a:extLst>
          </p:cNvPr>
          <p:cNvSpPr txBox="1"/>
          <p:nvPr/>
        </p:nvSpPr>
        <p:spPr>
          <a:xfrm>
            <a:off x="2814320" y="2491770"/>
            <a:ext cx="9133840" cy="1569660"/>
          </a:xfrm>
          <a:prstGeom prst="rect">
            <a:avLst/>
          </a:prstGeom>
          <a:noFill/>
        </p:spPr>
        <p:txBody>
          <a:bodyPr wrap="square" rtlCol="0">
            <a:spAutoFit/>
          </a:bodyPr>
          <a:lstStyle/>
          <a:p>
            <a:r>
              <a:rPr lang="en-IN" sz="9600" b="1" dirty="0">
                <a:solidFill>
                  <a:schemeClr val="accent1">
                    <a:lumMod val="60000"/>
                    <a:lumOff val="40000"/>
                  </a:schemeClr>
                </a:solidFill>
              </a:rPr>
              <a:t>THANK YOU</a:t>
            </a:r>
          </a:p>
        </p:txBody>
      </p:sp>
    </p:spTree>
    <p:extLst>
      <p:ext uri="{BB962C8B-B14F-4D97-AF65-F5344CB8AC3E}">
        <p14:creationId xmlns:p14="http://schemas.microsoft.com/office/powerpoint/2010/main" val="36019997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
  <TotalTime>2666</TotalTime>
  <Words>1385</Words>
  <Application>Microsoft Office PowerPoint</Application>
  <PresentationFormat>Widescreen</PresentationFormat>
  <Paragraphs>142</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Arial Black</vt:lpstr>
      <vt:lpstr>Calibri</vt:lpstr>
      <vt:lpstr>Calibri Light</vt:lpstr>
      <vt:lpstr>Celestial</vt:lpstr>
      <vt:lpstr>PowerPoint Presentation</vt:lpstr>
      <vt:lpstr>PowerPoint Presentation</vt:lpstr>
      <vt:lpstr>PowerPoint Presentation</vt:lpstr>
      <vt:lpstr>PowerPoint Presentation</vt:lpstr>
      <vt:lpstr>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saranya tagallamudi</dc:creator>
  <cp:lastModifiedBy>NARASIMHULU RAHUL</cp:lastModifiedBy>
  <cp:revision>13</cp:revision>
  <dcterms:created xsi:type="dcterms:W3CDTF">2025-10-16T18:28:05Z</dcterms:created>
  <dcterms:modified xsi:type="dcterms:W3CDTF">2026-04-22T12:28:08Z</dcterms:modified>
</cp:coreProperties>
</file>